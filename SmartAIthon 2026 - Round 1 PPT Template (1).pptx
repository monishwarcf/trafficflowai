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oppi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11" Type="http://schemas.openxmlformats.org/officeDocument/2006/relationships/slide" Target="slides/slide6.xml"/><Relationship Id="rId22" Type="http://schemas.openxmlformats.org/officeDocument/2006/relationships/font" Target="fonts/Poppins-boldItalic.fntdata"/><Relationship Id="rId10" Type="http://schemas.openxmlformats.org/officeDocument/2006/relationships/slide" Target="slides/slide5.xml"/><Relationship Id="rId21" Type="http://schemas.openxmlformats.org/officeDocument/2006/relationships/font" Target="fonts/Poppins-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oppins-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6e48e934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f6e48e9345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6e48e9345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f6e48e9345_0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e48e9345_10_0)">
  <p:cSld name="Generated (g3f6e48e9345_10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hyperlink" Target="https://flore.unifi.it/retrieve/12afce80-af2b-4575-bee0-cb1e4e3605ca/Multi-Agent_Optimizing_Traffic_Light_Signals_Using_Deep_Reinforcement_Learning.pdf" TargetMode="External"/><Relationship Id="rId13" Type="http://schemas.openxmlformats.org/officeDocument/2006/relationships/image" Target="../media/image4.png"/><Relationship Id="rId12"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ieeexplore.ieee.org/iel7/6979/9018398/08667868.pdf" TargetMode="External"/><Relationship Id="rId4" Type="http://schemas.openxmlformats.org/officeDocument/2006/relationships/hyperlink" Target="https://ieeexplore.ieee.org/iel7/6979/9018398/08667868.pdf" TargetMode="External"/><Relationship Id="rId9" Type="http://schemas.openxmlformats.org/officeDocument/2006/relationships/hyperlink" Target="https://flore.unifi.it/retrieve/12afce80-af2b-4575-bee0-cb1e4e3605ca/Multi-Agent_Optimizing_Traffic_Light_Signals_Using_Deep_Reinforcement_Learning.pdf" TargetMode="External"/><Relationship Id="rId5" Type="http://schemas.openxmlformats.org/officeDocument/2006/relationships/hyperlink" Target="https://standards.ieee.org/ieee/3342/11221/" TargetMode="External"/><Relationship Id="rId6" Type="http://schemas.openxmlformats.org/officeDocument/2006/relationships/hyperlink" Target="https://standards.ieee.org/ieee/3342/11221/" TargetMode="External"/><Relationship Id="rId7" Type="http://schemas.openxmlformats.org/officeDocument/2006/relationships/hyperlink" Target="https://ops.fhwa.dot.gov/publications/fhwahop22028/index.htm" TargetMode="External"/><Relationship Id="rId8" Type="http://schemas.openxmlformats.org/officeDocument/2006/relationships/hyperlink" Target="https://ops.fhwa.dot.gov/publications/fhwahop22028/index.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txBox="1"/>
          <p:nvPr>
            <p:ph type="ctrTitle"/>
          </p:nvPr>
        </p:nvSpPr>
        <p:spPr>
          <a:xfrm>
            <a:off x="311700" y="1278400"/>
            <a:ext cx="8520600" cy="1206000"/>
          </a:xfrm>
          <a:prstGeom prst="rect">
            <a:avLst/>
          </a:prstGeom>
          <a:noFill/>
          <a:ln>
            <a:noFill/>
          </a:ln>
        </p:spPr>
        <p:txBody>
          <a:bodyPr anchorCtr="0" anchor="b" bIns="91425" lIns="91425" spcFirstLastPara="1" rIns="91425" wrap="square" tIns="91425">
            <a:normAutofit/>
          </a:bodyPr>
          <a:lstStyle/>
          <a:p>
            <a:pPr indent="0" lvl="0" marL="0" rtl="0" algn="ctr">
              <a:lnSpc>
                <a:spcPct val="107916"/>
              </a:lnSpc>
              <a:spcBef>
                <a:spcPts val="1400"/>
              </a:spcBef>
              <a:spcAft>
                <a:spcPts val="400"/>
              </a:spcAft>
              <a:buClr>
                <a:schemeClr val="dk1"/>
              </a:buClr>
              <a:buSzPts val="1100"/>
              <a:buFont typeface="Arial"/>
              <a:buNone/>
            </a:pPr>
            <a:r>
              <a:rPr b="1" lang="en" sz="4125">
                <a:solidFill>
                  <a:srgbClr val="0EA5E9"/>
                </a:solidFill>
                <a:latin typeface="Poppins"/>
                <a:ea typeface="Poppins"/>
                <a:cs typeface="Poppins"/>
                <a:sym typeface="Poppins"/>
              </a:rPr>
              <a:t>TrafficFlow AI</a:t>
            </a:r>
            <a:endParaRPr sz="4500"/>
          </a:p>
        </p:txBody>
      </p:sp>
      <p:sp>
        <p:nvSpPr>
          <p:cNvPr id="56" name="Google Shape;56;p14"/>
          <p:cNvSpPr txBox="1"/>
          <p:nvPr>
            <p:ph idx="1" type="subTitle"/>
          </p:nvPr>
        </p:nvSpPr>
        <p:spPr>
          <a:xfrm>
            <a:off x="311700" y="2736100"/>
            <a:ext cx="7467300" cy="1712400"/>
          </a:xfrm>
          <a:prstGeom prst="rect">
            <a:avLst/>
          </a:prstGeom>
          <a:noFill/>
          <a:ln>
            <a:noFill/>
          </a:ln>
        </p:spPr>
        <p:txBody>
          <a:bodyPr anchorCtr="0" anchor="t" bIns="91425" lIns="91425" spcFirstLastPara="1" rIns="91425" wrap="square" tIns="91425">
            <a:normAutofit/>
          </a:bodyPr>
          <a:lstStyle/>
          <a:p>
            <a:pPr indent="0" lvl="0" marL="457200" rtl="0" algn="l">
              <a:lnSpc>
                <a:spcPct val="107916"/>
              </a:lnSpc>
              <a:spcBef>
                <a:spcPts val="1200"/>
              </a:spcBef>
              <a:spcAft>
                <a:spcPts val="0"/>
              </a:spcAft>
              <a:buSzPts val="2800"/>
              <a:buNone/>
            </a:pPr>
            <a:r>
              <a:rPr lang="en" sz="1500">
                <a:solidFill>
                  <a:schemeClr val="dk1"/>
                </a:solidFill>
                <a:latin typeface="Times New Roman"/>
                <a:ea typeface="Times New Roman"/>
                <a:cs typeface="Times New Roman"/>
                <a:sym typeface="Times New Roman"/>
              </a:rPr>
              <a:t>Team Name:HACKZILLA</a:t>
            </a:r>
            <a:endParaRPr sz="1500">
              <a:solidFill>
                <a:schemeClr val="dk1"/>
              </a:solidFill>
              <a:latin typeface="Times New Roman"/>
              <a:ea typeface="Times New Roman"/>
              <a:cs typeface="Times New Roman"/>
              <a:sym typeface="Times New Roman"/>
            </a:endParaRPr>
          </a:p>
          <a:p>
            <a:pPr indent="0" lvl="0" marL="457200" rtl="0" algn="l">
              <a:lnSpc>
                <a:spcPct val="107916"/>
              </a:lnSpc>
              <a:spcBef>
                <a:spcPts val="1200"/>
              </a:spcBef>
              <a:spcAft>
                <a:spcPts val="0"/>
              </a:spcAft>
              <a:buSzPts val="2800"/>
              <a:buNone/>
            </a:pPr>
            <a:r>
              <a:rPr lang="en" sz="1500">
                <a:solidFill>
                  <a:schemeClr val="dk1"/>
                </a:solidFill>
                <a:latin typeface="Times New Roman"/>
                <a:ea typeface="Times New Roman"/>
                <a:cs typeface="Times New Roman"/>
                <a:sym typeface="Times New Roman"/>
              </a:rPr>
              <a:t>Team Leader Name:Monishwar S</a:t>
            </a:r>
            <a:endParaRPr sz="1500">
              <a:solidFill>
                <a:schemeClr val="dk1"/>
              </a:solidFill>
              <a:latin typeface="Times New Roman"/>
              <a:ea typeface="Times New Roman"/>
              <a:cs typeface="Times New Roman"/>
              <a:sym typeface="Times New Roman"/>
            </a:endParaRPr>
          </a:p>
          <a:p>
            <a:pPr indent="0" lvl="0" marL="457200" rtl="0" algn="l">
              <a:lnSpc>
                <a:spcPct val="107916"/>
              </a:lnSpc>
              <a:spcBef>
                <a:spcPts val="1200"/>
              </a:spcBef>
              <a:spcAft>
                <a:spcPts val="0"/>
              </a:spcAft>
              <a:buSzPts val="2800"/>
              <a:buNone/>
            </a:pPr>
            <a:r>
              <a:rPr lang="en" sz="1500">
                <a:solidFill>
                  <a:schemeClr val="dk1"/>
                </a:solidFill>
                <a:latin typeface="Times New Roman"/>
                <a:ea typeface="Times New Roman"/>
                <a:cs typeface="Times New Roman"/>
                <a:sym typeface="Times New Roman"/>
              </a:rPr>
              <a:t>Teammates Name:Prachith Balaji G, Navaneethan N S</a:t>
            </a:r>
            <a:endParaRPr sz="1500">
              <a:solidFill>
                <a:schemeClr val="dk1"/>
              </a:solidFill>
              <a:latin typeface="Times New Roman"/>
              <a:ea typeface="Times New Roman"/>
              <a:cs typeface="Times New Roman"/>
              <a:sym typeface="Times New Roman"/>
            </a:endParaRPr>
          </a:p>
          <a:p>
            <a:pPr indent="0" lvl="0" marL="457200" rtl="0" algn="l">
              <a:lnSpc>
                <a:spcPct val="107916"/>
              </a:lnSpc>
              <a:spcBef>
                <a:spcPts val="1200"/>
              </a:spcBef>
              <a:spcAft>
                <a:spcPts val="1200"/>
              </a:spcAft>
              <a:buSzPts val="2800"/>
              <a:buNone/>
            </a:pPr>
            <a:r>
              <a:rPr lang="en" sz="1500">
                <a:solidFill>
                  <a:schemeClr val="dk1"/>
                </a:solidFill>
                <a:latin typeface="Times New Roman"/>
                <a:ea typeface="Times New Roman"/>
                <a:cs typeface="Times New Roman"/>
                <a:sym typeface="Times New Roman"/>
              </a:rPr>
              <a:t>College Name:KPR</a:t>
            </a:r>
            <a:r>
              <a:rPr lang="en" sz="1500">
                <a:solidFill>
                  <a:schemeClr val="dk1"/>
                </a:solidFill>
                <a:latin typeface="Times New Roman"/>
                <a:ea typeface="Times New Roman"/>
                <a:cs typeface="Times New Roman"/>
                <a:sym typeface="Times New Roman"/>
              </a:rPr>
              <a:t> Institute of Engineering and Technology</a:t>
            </a:r>
            <a:endParaRPr sz="1500">
              <a:solidFill>
                <a:schemeClr val="dk1"/>
              </a:solidFill>
              <a:latin typeface="Times New Roman"/>
              <a:ea typeface="Times New Roman"/>
              <a:cs typeface="Times New Roman"/>
              <a:sym typeface="Times New Roman"/>
            </a:endParaRPr>
          </a:p>
        </p:txBody>
      </p:sp>
      <p:pic>
        <p:nvPicPr>
          <p:cNvPr id="57" name="Google Shape;57;p14"/>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58" name="Google Shape;58;p14"/>
          <p:cNvPicPr preferRelativeResize="0"/>
          <p:nvPr/>
        </p:nvPicPr>
        <p:blipFill rotWithShape="1">
          <a:blip r:embed="rId4">
            <a:alphaModFix/>
          </a:blip>
          <a:srcRect b="0" l="0" r="0" t="0"/>
          <a:stretch/>
        </p:blipFill>
        <p:spPr>
          <a:xfrm>
            <a:off x="6483475" y="58800"/>
            <a:ext cx="2435905" cy="648825"/>
          </a:xfrm>
          <a:prstGeom prst="rect">
            <a:avLst/>
          </a:prstGeom>
          <a:noFill/>
          <a:ln>
            <a:noFill/>
          </a:ln>
        </p:spPr>
      </p:pic>
      <p:pic>
        <p:nvPicPr>
          <p:cNvPr id="59" name="Google Shape;59;p14"/>
          <p:cNvPicPr preferRelativeResize="0"/>
          <p:nvPr/>
        </p:nvPicPr>
        <p:blipFill rotWithShape="1">
          <a:blip r:embed="rId5">
            <a:alphaModFix/>
          </a:blip>
          <a:srcRect b="0" l="0" r="0" t="0"/>
          <a:stretch/>
        </p:blipFill>
        <p:spPr>
          <a:xfrm>
            <a:off x="4897550" y="58788"/>
            <a:ext cx="1524000" cy="603956"/>
          </a:xfrm>
          <a:prstGeom prst="rect">
            <a:avLst/>
          </a:prstGeom>
          <a:noFill/>
          <a:ln>
            <a:noFill/>
          </a:ln>
        </p:spPr>
      </p:pic>
      <p:pic>
        <p:nvPicPr>
          <p:cNvPr id="60" name="Google Shape;60;p14"/>
          <p:cNvPicPr preferRelativeResize="0"/>
          <p:nvPr/>
        </p:nvPicPr>
        <p:blipFill rotWithShape="1">
          <a:blip r:embed="rId6">
            <a:alphaModFix/>
          </a:blip>
          <a:srcRect b="0" l="0" r="0" t="0"/>
          <a:stretch/>
        </p:blipFill>
        <p:spPr>
          <a:xfrm>
            <a:off x="3210651" y="76342"/>
            <a:ext cx="1524000" cy="631283"/>
          </a:xfrm>
          <a:prstGeom prst="rect">
            <a:avLst/>
          </a:prstGeom>
          <a:noFill/>
          <a:ln>
            <a:noFill/>
          </a:ln>
        </p:spPr>
      </p:pic>
      <p:pic>
        <p:nvPicPr>
          <p:cNvPr id="61" name="Google Shape;61;p14"/>
          <p:cNvPicPr preferRelativeResize="0"/>
          <p:nvPr/>
        </p:nvPicPr>
        <p:blipFill rotWithShape="1">
          <a:blip r:embed="rId7">
            <a:alphaModFix/>
          </a:blip>
          <a:srcRect b="0" l="0" r="0" t="0"/>
          <a:stretch/>
        </p:blipFill>
        <p:spPr>
          <a:xfrm>
            <a:off x="1916075" y="103675"/>
            <a:ext cx="947372" cy="603950"/>
          </a:xfrm>
          <a:prstGeom prst="rect">
            <a:avLst/>
          </a:prstGeom>
          <a:noFill/>
          <a:ln>
            <a:noFill/>
          </a:ln>
        </p:spPr>
      </p:pic>
      <p:pic>
        <p:nvPicPr>
          <p:cNvPr id="62" name="Google Shape;62;p14"/>
          <p:cNvPicPr preferRelativeResize="0"/>
          <p:nvPr/>
        </p:nvPicPr>
        <p:blipFill rotWithShape="1">
          <a:blip r:embed="rId8">
            <a:alphaModFix/>
          </a:blip>
          <a:srcRect b="0" l="0" r="0" t="0"/>
          <a:stretch/>
        </p:blipFill>
        <p:spPr>
          <a:xfrm>
            <a:off x="170575" y="113850"/>
            <a:ext cx="1524000" cy="593763"/>
          </a:xfrm>
          <a:prstGeom prst="rect">
            <a:avLst/>
          </a:prstGeom>
          <a:noFill/>
          <a:ln>
            <a:noFill/>
          </a:ln>
        </p:spPr>
      </p:pic>
      <p:pic>
        <p:nvPicPr>
          <p:cNvPr id="63" name="Google Shape;63;p14"/>
          <p:cNvPicPr preferRelativeResize="0"/>
          <p:nvPr/>
        </p:nvPicPr>
        <p:blipFill rotWithShape="1">
          <a:blip r:embed="rId9">
            <a:alphaModFix/>
          </a:blip>
          <a:srcRect b="0" l="0" r="0" t="0"/>
          <a:stretch/>
        </p:blipFill>
        <p:spPr>
          <a:xfrm rot="-5400000">
            <a:off x="4452250" y="436550"/>
            <a:ext cx="256675" cy="9157225"/>
          </a:xfrm>
          <a:prstGeom prst="rect">
            <a:avLst/>
          </a:prstGeom>
          <a:noFill/>
          <a:ln>
            <a:noFill/>
          </a:ln>
        </p:spPr>
      </p:pic>
      <p:pic>
        <p:nvPicPr>
          <p:cNvPr id="64" name="Google Shape;64;p14"/>
          <p:cNvPicPr preferRelativeResize="0"/>
          <p:nvPr/>
        </p:nvPicPr>
        <p:blipFill rotWithShape="1">
          <a:blip r:embed="rId10">
            <a:alphaModFix/>
          </a:blip>
          <a:srcRect b="0" l="0" r="0" t="0"/>
          <a:stretch/>
        </p:blipFill>
        <p:spPr>
          <a:xfrm rot="-5400000">
            <a:off x="4401225" y="-3711450"/>
            <a:ext cx="319075" cy="91572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ctrTitle"/>
          </p:nvPr>
        </p:nvSpPr>
        <p:spPr>
          <a:xfrm>
            <a:off x="42950" y="0"/>
            <a:ext cx="5053800" cy="754500"/>
          </a:xfrm>
          <a:prstGeom prst="rect">
            <a:avLst/>
          </a:prstGeom>
          <a:noFill/>
          <a:ln>
            <a:noFill/>
          </a:ln>
        </p:spPr>
        <p:txBody>
          <a:bodyPr anchorCtr="0" anchor="b" bIns="91425" lIns="91425" spcFirstLastPara="1" rIns="91425" wrap="square" tIns="91425">
            <a:normAutofit/>
          </a:bodyPr>
          <a:lstStyle/>
          <a:p>
            <a:pPr indent="0" lvl="0" marL="0" rtl="0" algn="l">
              <a:lnSpc>
                <a:spcPct val="107916"/>
              </a:lnSpc>
              <a:spcBef>
                <a:spcPts val="1400"/>
              </a:spcBef>
              <a:spcAft>
                <a:spcPts val="400"/>
              </a:spcAft>
              <a:buClr>
                <a:schemeClr val="dk1"/>
              </a:buClr>
              <a:buSzPts val="1100"/>
              <a:buFont typeface="Arial"/>
              <a:buNone/>
            </a:pPr>
            <a:r>
              <a:rPr b="1" lang="en" sz="2800">
                <a:latin typeface="Times New Roman"/>
                <a:ea typeface="Times New Roman"/>
                <a:cs typeface="Times New Roman"/>
                <a:sym typeface="Times New Roman"/>
              </a:rPr>
              <a:t>PROBLEM  STATEMENT</a:t>
            </a:r>
            <a:endParaRPr sz="2800"/>
          </a:p>
        </p:txBody>
      </p:sp>
      <p:pic>
        <p:nvPicPr>
          <p:cNvPr id="70" name="Google Shape;70;p15"/>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71" name="Google Shape;71;p15"/>
          <p:cNvPicPr preferRelativeResize="0"/>
          <p:nvPr/>
        </p:nvPicPr>
        <p:blipFill rotWithShape="1">
          <a:blip r:embed="rId4">
            <a:alphaModFix/>
          </a:blip>
          <a:srcRect b="0" l="0" r="0" t="0"/>
          <a:stretch/>
        </p:blipFill>
        <p:spPr>
          <a:xfrm rot="-5400000">
            <a:off x="4443663" y="431600"/>
            <a:ext cx="256675" cy="9167125"/>
          </a:xfrm>
          <a:prstGeom prst="rect">
            <a:avLst/>
          </a:prstGeom>
          <a:noFill/>
          <a:ln>
            <a:noFill/>
          </a:ln>
        </p:spPr>
      </p:pic>
      <p:pic>
        <p:nvPicPr>
          <p:cNvPr id="72" name="Google Shape;72;p15"/>
          <p:cNvPicPr preferRelativeResize="0"/>
          <p:nvPr/>
        </p:nvPicPr>
        <p:blipFill rotWithShape="1">
          <a:blip r:embed="rId5">
            <a:alphaModFix/>
          </a:blip>
          <a:srcRect b="0" l="0" r="0" t="0"/>
          <a:stretch/>
        </p:blipFill>
        <p:spPr>
          <a:xfrm rot="-5400000">
            <a:off x="4412474" y="-3661887"/>
            <a:ext cx="319075" cy="9058100"/>
          </a:xfrm>
          <a:prstGeom prst="rect">
            <a:avLst/>
          </a:prstGeom>
          <a:noFill/>
          <a:ln>
            <a:noFill/>
          </a:ln>
        </p:spPr>
      </p:pic>
      <p:sp>
        <p:nvSpPr>
          <p:cNvPr id="73" name="Google Shape;73;p15"/>
          <p:cNvSpPr txBox="1"/>
          <p:nvPr/>
        </p:nvSpPr>
        <p:spPr>
          <a:xfrm>
            <a:off x="274325" y="1236425"/>
            <a:ext cx="7977900" cy="3604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The Urban Gridlock:</a:t>
            </a:r>
            <a:r>
              <a:rPr lang="en" sz="1100">
                <a:solidFill>
                  <a:schemeClr val="dk1"/>
                </a:solidFill>
              </a:rPr>
              <a:t> Commuters drain an average of 99 hours yearly in gridlock across major metropolitan areas, wasting time and fueling frustration.</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Environmental Impact:</a:t>
            </a:r>
            <a:r>
              <a:rPr lang="en" sz="1100">
                <a:solidFill>
                  <a:schemeClr val="dk1"/>
                </a:solidFill>
              </a:rPr>
              <a:t> Each stalled trip hikes fuel consumption and emissions by roughly 20%, significantly decreasing urban air quality.</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Public Safety Risks:</a:t>
            </a:r>
            <a:r>
              <a:rPr lang="en" sz="1100">
                <a:solidFill>
                  <a:schemeClr val="dk1"/>
                </a:solidFill>
              </a:rPr>
              <a:t> Chronic dela</a:t>
            </a:r>
            <a:r>
              <a:rPr lang="en" sz="1100">
                <a:solidFill>
                  <a:schemeClr val="dk1"/>
                </a:solidFill>
              </a:rPr>
              <a:t>ys push emergency responders off target, turning minor delays into life-threatening bottlenecks.</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The Core Flaw:</a:t>
            </a:r>
            <a:r>
              <a:rPr lang="en" sz="1100">
                <a:solidFill>
                  <a:schemeClr val="dk1"/>
                </a:solidFill>
              </a:rPr>
              <a:t> Existing systems rely on centralized servers that react slowly, fail at scale, and create massive points of failure for entire city grids.</a:t>
            </a:r>
            <a:endParaRPr sz="1100">
              <a:solidFill>
                <a:schemeClr val="dk1"/>
              </a:solidFill>
            </a:endParaRPr>
          </a:p>
          <a:p>
            <a:pPr indent="0" lvl="0" marL="457200" rtl="0" algn="l">
              <a:lnSpc>
                <a:spcPct val="115000"/>
              </a:lnSpc>
              <a:spcBef>
                <a:spcPts val="1200"/>
              </a:spcBef>
              <a:spcAft>
                <a:spcPts val="1200"/>
              </a:spcAft>
              <a:buNone/>
            </a:pPr>
            <a:r>
              <a:t/>
            </a:r>
            <a:endParaRPr b="1" sz="13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7" name="Shape 77"/>
        <p:cNvGrpSpPr/>
        <p:nvPr/>
      </p:nvGrpSpPr>
      <p:grpSpPr>
        <a:xfrm>
          <a:off x="0" y="0"/>
          <a:ext cx="0" cy="0"/>
          <a:chOff x="0" y="0"/>
          <a:chExt cx="0" cy="0"/>
        </a:xfrm>
      </p:grpSpPr>
      <p:grpSp>
        <p:nvGrpSpPr>
          <p:cNvPr id="78" name="Google Shape;78;p16"/>
          <p:cNvGrpSpPr/>
          <p:nvPr/>
        </p:nvGrpSpPr>
        <p:grpSpPr>
          <a:xfrm>
            <a:off x="-11560" y="707497"/>
            <a:ext cx="9167100" cy="4436003"/>
            <a:chOff x="-11560" y="707497"/>
            <a:chExt cx="9167100" cy="4436003"/>
          </a:xfrm>
        </p:grpSpPr>
        <p:pic>
          <p:nvPicPr>
            <p:cNvPr id="79" name="Google Shape;79;p16"/>
            <p:cNvPicPr preferRelativeResize="0"/>
            <p:nvPr/>
          </p:nvPicPr>
          <p:blipFill rotWithShape="1">
            <a:blip r:embed="rId3">
              <a:alphaModFix/>
            </a:blip>
            <a:srcRect b="1672" l="0" r="0" t="1663"/>
            <a:stretch/>
          </p:blipFill>
          <p:spPr>
            <a:xfrm>
              <a:off x="0" y="4717647"/>
              <a:ext cx="9144000" cy="211800"/>
            </a:xfrm>
            <a:prstGeom prst="rect">
              <a:avLst/>
            </a:prstGeom>
            <a:noFill/>
            <a:ln>
              <a:noFill/>
            </a:ln>
          </p:spPr>
        </p:pic>
        <p:pic>
          <p:nvPicPr>
            <p:cNvPr id="80" name="Google Shape;80;p16"/>
            <p:cNvPicPr preferRelativeResize="0"/>
            <p:nvPr/>
          </p:nvPicPr>
          <p:blipFill rotWithShape="1">
            <a:blip r:embed="rId4">
              <a:alphaModFix/>
            </a:blip>
            <a:srcRect b="0" l="36610" r="36613" t="0"/>
            <a:stretch/>
          </p:blipFill>
          <p:spPr>
            <a:xfrm rot="-5400000">
              <a:off x="4443590" y="431550"/>
              <a:ext cx="256800" cy="9167100"/>
            </a:xfrm>
            <a:prstGeom prst="rect">
              <a:avLst/>
            </a:prstGeom>
            <a:noFill/>
            <a:ln>
              <a:noFill/>
            </a:ln>
          </p:spPr>
        </p:pic>
        <p:pic>
          <p:nvPicPr>
            <p:cNvPr id="81" name="Google Shape;81;p16"/>
            <p:cNvPicPr preferRelativeResize="0"/>
            <p:nvPr/>
          </p:nvPicPr>
          <p:blipFill rotWithShape="1">
            <a:blip r:embed="rId5">
              <a:alphaModFix/>
            </a:blip>
            <a:srcRect b="0" l="36147" r="36147" t="0"/>
            <a:stretch/>
          </p:blipFill>
          <p:spPr>
            <a:xfrm rot="-5400000">
              <a:off x="4412461" y="-3662003"/>
              <a:ext cx="319200" cy="9058200"/>
            </a:xfrm>
            <a:prstGeom prst="rect">
              <a:avLst/>
            </a:prstGeom>
            <a:noFill/>
            <a:ln>
              <a:noFill/>
            </a:ln>
          </p:spPr>
        </p:pic>
      </p:grpSp>
      <p:sp>
        <p:nvSpPr>
          <p:cNvPr id="82" name="Google Shape;82;p16"/>
          <p:cNvSpPr txBox="1"/>
          <p:nvPr/>
        </p:nvSpPr>
        <p:spPr>
          <a:xfrm>
            <a:off x="172050" y="188975"/>
            <a:ext cx="8191500" cy="476400"/>
          </a:xfrm>
          <a:prstGeom prst="rect">
            <a:avLst/>
          </a:prstGeom>
          <a:noFill/>
          <a:ln>
            <a:noFill/>
          </a:ln>
        </p:spPr>
        <p:txBody>
          <a:bodyPr anchorCtr="0" anchor="t" bIns="0" lIns="0" spcFirstLastPara="1" rIns="0" wrap="square" tIns="0">
            <a:noAutofit/>
          </a:bodyPr>
          <a:lstStyle/>
          <a:p>
            <a:pPr indent="0" lvl="0" marL="0" rtl="0" algn="l">
              <a:lnSpc>
                <a:spcPct val="107916"/>
              </a:lnSpc>
              <a:spcBef>
                <a:spcPts val="1400"/>
              </a:spcBef>
              <a:spcAft>
                <a:spcPts val="400"/>
              </a:spcAft>
              <a:buClr>
                <a:schemeClr val="dk1"/>
              </a:buClr>
              <a:buSzPts val="1100"/>
              <a:buFont typeface="Arial"/>
              <a:buNone/>
            </a:pPr>
            <a:r>
              <a:rPr b="1" lang="en" sz="2800">
                <a:solidFill>
                  <a:schemeClr val="dk1"/>
                </a:solidFill>
                <a:latin typeface="Times New Roman"/>
                <a:ea typeface="Times New Roman"/>
                <a:cs typeface="Times New Roman"/>
                <a:sym typeface="Times New Roman"/>
              </a:rPr>
              <a:t>PROBLEM  STATEMENT</a:t>
            </a:r>
            <a:endParaRPr b="1" sz="2800">
              <a:solidFill>
                <a:schemeClr val="dk1"/>
              </a:solidFill>
              <a:latin typeface="Times New Roman"/>
              <a:ea typeface="Times New Roman"/>
              <a:cs typeface="Times New Roman"/>
              <a:sym typeface="Times New Roman"/>
            </a:endParaRPr>
          </a:p>
        </p:txBody>
      </p:sp>
      <p:grpSp>
        <p:nvGrpSpPr>
          <p:cNvPr id="83" name="Google Shape;83;p16"/>
          <p:cNvGrpSpPr/>
          <p:nvPr/>
        </p:nvGrpSpPr>
        <p:grpSpPr>
          <a:xfrm>
            <a:off x="273450" y="1355000"/>
            <a:ext cx="3905400" cy="3238500"/>
            <a:chOff x="476250" y="1143000"/>
            <a:chExt cx="3905400" cy="3238500"/>
          </a:xfrm>
        </p:grpSpPr>
        <p:sp>
          <p:nvSpPr>
            <p:cNvPr id="84" name="Google Shape;84;p16"/>
            <p:cNvSpPr/>
            <p:nvPr/>
          </p:nvSpPr>
          <p:spPr>
            <a:xfrm>
              <a:off x="476250" y="1143000"/>
              <a:ext cx="3905400" cy="32385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wide-angle photograph of heavy city traffic congestion at twilight, with glowing red tail lights and blue-toned atmospheric street lights, highlighting urban density and modern gridlock." id="85" name="Google Shape;85;p16"/>
            <p:cNvPicPr preferRelativeResize="0"/>
            <p:nvPr/>
          </p:nvPicPr>
          <p:blipFill rotWithShape="1">
            <a:blip r:embed="rId6">
              <a:alphaModFix/>
            </a:blip>
            <a:srcRect b="0" l="4775" r="4784" t="0"/>
            <a:stretch/>
          </p:blipFill>
          <p:spPr>
            <a:xfrm>
              <a:off x="476250" y="1143000"/>
              <a:ext cx="3905400" cy="3238500"/>
            </a:xfrm>
            <a:prstGeom prst="roundRect">
              <a:avLst>
                <a:gd fmla="val 4705" name="adj"/>
              </a:avLst>
            </a:prstGeom>
            <a:noFill/>
            <a:ln>
              <a:noFill/>
            </a:ln>
          </p:spPr>
        </p:pic>
      </p:grpSp>
      <p:grpSp>
        <p:nvGrpSpPr>
          <p:cNvPr id="86" name="Google Shape;86;p16"/>
          <p:cNvGrpSpPr/>
          <p:nvPr/>
        </p:nvGrpSpPr>
        <p:grpSpPr>
          <a:xfrm>
            <a:off x="4667250" y="1143000"/>
            <a:ext cx="4000500" cy="705000"/>
            <a:chOff x="4667250" y="1143000"/>
            <a:chExt cx="4000500" cy="705000"/>
          </a:xfrm>
        </p:grpSpPr>
        <p:sp>
          <p:nvSpPr>
            <p:cNvPr id="87" name="Google Shape;87;p16"/>
            <p:cNvSpPr/>
            <p:nvPr/>
          </p:nvSpPr>
          <p:spPr>
            <a:xfrm>
              <a:off x="4667250" y="1143000"/>
              <a:ext cx="4000500" cy="705000"/>
            </a:xfrm>
            <a:prstGeom prst="roundRect">
              <a:avLst>
                <a:gd fmla="val 1621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6"/>
            <p:cNvSpPr/>
            <p:nvPr/>
          </p:nvSpPr>
          <p:spPr>
            <a:xfrm>
              <a:off x="4667250" y="1143000"/>
              <a:ext cx="57300" cy="705000"/>
            </a:xfrm>
            <a:prstGeom prst="roundRect">
              <a:avLst>
                <a:gd fmla="val 5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6"/>
            <p:cNvSpPr txBox="1"/>
            <p:nvPr/>
          </p:nvSpPr>
          <p:spPr>
            <a:xfrm>
              <a:off x="4876800" y="1238250"/>
              <a:ext cx="36195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20">
                  <a:solidFill>
                    <a:srgbClr val="0EA5E9"/>
                  </a:solidFill>
                  <a:latin typeface="Poppins"/>
                  <a:ea typeface="Poppins"/>
                  <a:cs typeface="Poppins"/>
                  <a:sym typeface="Poppins"/>
                </a:rPr>
                <a:t>01 / The Urban Gridlock</a:t>
              </a:r>
              <a:endParaRPr b="1" sz="1020">
                <a:solidFill>
                  <a:srgbClr val="0EA5E9"/>
                </a:solidFill>
                <a:latin typeface="Poppins"/>
                <a:ea typeface="Poppins"/>
                <a:cs typeface="Poppins"/>
                <a:sym typeface="Poppins"/>
              </a:endParaRPr>
            </a:p>
            <a:p>
              <a:pPr indent="0" lvl="0" marL="0" rtl="0" algn="l">
                <a:spcBef>
                  <a:spcPts val="600"/>
                </a:spcBef>
                <a:spcAft>
                  <a:spcPts val="0"/>
                </a:spcAft>
                <a:buNone/>
              </a:pPr>
              <a:r>
                <a:rPr b="0" lang="en" sz="850">
                  <a:solidFill>
                    <a:srgbClr val="334155"/>
                  </a:solidFill>
                  <a:latin typeface="Arial"/>
                  <a:ea typeface="Arial"/>
                  <a:cs typeface="Arial"/>
                  <a:sym typeface="Arial"/>
                </a:rPr>
                <a:t>Commuters drain an average of </a:t>
              </a:r>
              <a:r>
                <a:rPr b="1" lang="en" sz="850">
                  <a:solidFill>
                    <a:srgbClr val="0F172A"/>
                  </a:solidFill>
                  <a:latin typeface="Arial"/>
                  <a:ea typeface="Arial"/>
                  <a:cs typeface="Arial"/>
                  <a:sym typeface="Arial"/>
                </a:rPr>
                <a:t>99 hours yearly</a:t>
              </a:r>
              <a:r>
                <a:rPr b="0" lang="en" sz="850">
                  <a:solidFill>
                    <a:srgbClr val="334155"/>
                  </a:solidFill>
                  <a:latin typeface="Arial"/>
                  <a:ea typeface="Arial"/>
                  <a:cs typeface="Arial"/>
                  <a:sym typeface="Arial"/>
                </a:rPr>
                <a:t> in gridlock across major metropolitan areas, wasting time and fueling frustration.</a:t>
              </a:r>
              <a:endParaRPr b="0" sz="850">
                <a:solidFill>
                  <a:srgbClr val="334155"/>
                </a:solidFill>
                <a:latin typeface="Arial"/>
                <a:ea typeface="Arial"/>
                <a:cs typeface="Arial"/>
                <a:sym typeface="Arial"/>
              </a:endParaRPr>
            </a:p>
          </p:txBody>
        </p:sp>
      </p:grpSp>
      <p:grpSp>
        <p:nvGrpSpPr>
          <p:cNvPr id="90" name="Google Shape;90;p16"/>
          <p:cNvGrpSpPr/>
          <p:nvPr/>
        </p:nvGrpSpPr>
        <p:grpSpPr>
          <a:xfrm>
            <a:off x="4667250" y="1981200"/>
            <a:ext cx="4000500" cy="705000"/>
            <a:chOff x="4667250" y="1981200"/>
            <a:chExt cx="4000500" cy="705000"/>
          </a:xfrm>
        </p:grpSpPr>
        <p:sp>
          <p:nvSpPr>
            <p:cNvPr id="91" name="Google Shape;91;p16"/>
            <p:cNvSpPr/>
            <p:nvPr/>
          </p:nvSpPr>
          <p:spPr>
            <a:xfrm>
              <a:off x="4667250" y="1981200"/>
              <a:ext cx="4000500" cy="705000"/>
            </a:xfrm>
            <a:prstGeom prst="roundRect">
              <a:avLst>
                <a:gd fmla="val 1621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6"/>
            <p:cNvSpPr/>
            <p:nvPr/>
          </p:nvSpPr>
          <p:spPr>
            <a:xfrm>
              <a:off x="4667250" y="1981200"/>
              <a:ext cx="57300" cy="705000"/>
            </a:xfrm>
            <a:prstGeom prst="roundRect">
              <a:avLst>
                <a:gd fmla="val 5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6"/>
            <p:cNvSpPr txBox="1"/>
            <p:nvPr/>
          </p:nvSpPr>
          <p:spPr>
            <a:xfrm>
              <a:off x="4876800" y="2076450"/>
              <a:ext cx="36195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20">
                  <a:solidFill>
                    <a:srgbClr val="0EA5E9"/>
                  </a:solidFill>
                  <a:latin typeface="Poppins"/>
                  <a:ea typeface="Poppins"/>
                  <a:cs typeface="Poppins"/>
                  <a:sym typeface="Poppins"/>
                </a:rPr>
                <a:t>02 / Environmental Impact</a:t>
              </a:r>
              <a:endParaRPr b="1" sz="1020">
                <a:solidFill>
                  <a:srgbClr val="0EA5E9"/>
                </a:solidFill>
                <a:latin typeface="Poppins"/>
                <a:ea typeface="Poppins"/>
                <a:cs typeface="Poppins"/>
                <a:sym typeface="Poppins"/>
              </a:endParaRPr>
            </a:p>
            <a:p>
              <a:pPr indent="0" lvl="0" marL="0" rtl="0" algn="l">
                <a:spcBef>
                  <a:spcPts val="600"/>
                </a:spcBef>
                <a:spcAft>
                  <a:spcPts val="0"/>
                </a:spcAft>
                <a:buNone/>
              </a:pPr>
              <a:r>
                <a:rPr b="0" lang="en" sz="850">
                  <a:solidFill>
                    <a:srgbClr val="334155"/>
                  </a:solidFill>
                  <a:latin typeface="Arial"/>
                  <a:ea typeface="Arial"/>
                  <a:cs typeface="Arial"/>
                  <a:sym typeface="Arial"/>
                </a:rPr>
                <a:t>Each stalled trip hikes fuel consumption and emissions by </a:t>
              </a:r>
              <a:r>
                <a:rPr b="1" lang="en" sz="850">
                  <a:solidFill>
                    <a:srgbClr val="0F172A"/>
                  </a:solidFill>
                  <a:latin typeface="Arial"/>
                  <a:ea typeface="Arial"/>
                  <a:cs typeface="Arial"/>
                  <a:sym typeface="Arial"/>
                </a:rPr>
                <a:t>roughly 20%</a:t>
              </a:r>
              <a:r>
                <a:rPr b="0" lang="en" sz="850">
                  <a:solidFill>
                    <a:srgbClr val="334155"/>
                  </a:solidFill>
                  <a:latin typeface="Arial"/>
                  <a:ea typeface="Arial"/>
                  <a:cs typeface="Arial"/>
                  <a:sym typeface="Arial"/>
                </a:rPr>
                <a:t>, significantly decreasing urban air quality.</a:t>
              </a:r>
              <a:endParaRPr b="0" sz="850">
                <a:solidFill>
                  <a:srgbClr val="334155"/>
                </a:solidFill>
                <a:latin typeface="Arial"/>
                <a:ea typeface="Arial"/>
                <a:cs typeface="Arial"/>
                <a:sym typeface="Arial"/>
              </a:endParaRPr>
            </a:p>
          </p:txBody>
        </p:sp>
      </p:grpSp>
      <p:grpSp>
        <p:nvGrpSpPr>
          <p:cNvPr id="94" name="Google Shape;94;p16"/>
          <p:cNvGrpSpPr/>
          <p:nvPr/>
        </p:nvGrpSpPr>
        <p:grpSpPr>
          <a:xfrm>
            <a:off x="4667250" y="2819400"/>
            <a:ext cx="4000500" cy="705000"/>
            <a:chOff x="4667250" y="2819400"/>
            <a:chExt cx="4000500" cy="705000"/>
          </a:xfrm>
        </p:grpSpPr>
        <p:sp>
          <p:nvSpPr>
            <p:cNvPr id="95" name="Google Shape;95;p16"/>
            <p:cNvSpPr/>
            <p:nvPr/>
          </p:nvSpPr>
          <p:spPr>
            <a:xfrm>
              <a:off x="4667250" y="2819400"/>
              <a:ext cx="4000500" cy="705000"/>
            </a:xfrm>
            <a:prstGeom prst="roundRect">
              <a:avLst>
                <a:gd fmla="val 1621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6"/>
            <p:cNvSpPr/>
            <p:nvPr/>
          </p:nvSpPr>
          <p:spPr>
            <a:xfrm>
              <a:off x="4667250" y="2819400"/>
              <a:ext cx="57300" cy="705000"/>
            </a:xfrm>
            <a:prstGeom prst="roundRect">
              <a:avLst>
                <a:gd fmla="val 5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6"/>
            <p:cNvSpPr txBox="1"/>
            <p:nvPr/>
          </p:nvSpPr>
          <p:spPr>
            <a:xfrm>
              <a:off x="4876800" y="2914650"/>
              <a:ext cx="36195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20">
                  <a:solidFill>
                    <a:srgbClr val="0EA5E9"/>
                  </a:solidFill>
                  <a:latin typeface="Poppins"/>
                  <a:ea typeface="Poppins"/>
                  <a:cs typeface="Poppins"/>
                  <a:sym typeface="Poppins"/>
                </a:rPr>
                <a:t>03 / Public Safety Risks</a:t>
              </a:r>
              <a:endParaRPr b="1" sz="1020">
                <a:solidFill>
                  <a:srgbClr val="0EA5E9"/>
                </a:solidFill>
                <a:latin typeface="Poppins"/>
                <a:ea typeface="Poppins"/>
                <a:cs typeface="Poppins"/>
                <a:sym typeface="Poppins"/>
              </a:endParaRPr>
            </a:p>
            <a:p>
              <a:pPr indent="0" lvl="0" marL="0" rtl="0" algn="l">
                <a:spcBef>
                  <a:spcPts val="600"/>
                </a:spcBef>
                <a:spcAft>
                  <a:spcPts val="0"/>
                </a:spcAft>
                <a:buNone/>
              </a:pPr>
              <a:r>
                <a:rPr b="0" lang="en" sz="850">
                  <a:solidFill>
                    <a:srgbClr val="334155"/>
                  </a:solidFill>
                  <a:latin typeface="Arial"/>
                  <a:ea typeface="Arial"/>
                  <a:cs typeface="Arial"/>
                  <a:sym typeface="Arial"/>
                </a:rPr>
                <a:t>Chronic delays push emergency responders off target, turning minor delays into </a:t>
              </a:r>
              <a:r>
                <a:rPr b="1" lang="en" sz="850">
                  <a:solidFill>
                    <a:srgbClr val="0F172A"/>
                  </a:solidFill>
                  <a:latin typeface="Arial"/>
                  <a:ea typeface="Arial"/>
                  <a:cs typeface="Arial"/>
                  <a:sym typeface="Arial"/>
                </a:rPr>
                <a:t>life-threatening bottlenecks</a:t>
              </a:r>
              <a:r>
                <a:rPr b="0" lang="en" sz="850">
                  <a:solidFill>
                    <a:srgbClr val="334155"/>
                  </a:solidFill>
                  <a:latin typeface="Arial"/>
                  <a:ea typeface="Arial"/>
                  <a:cs typeface="Arial"/>
                  <a:sym typeface="Arial"/>
                </a:rPr>
                <a:t>.</a:t>
              </a:r>
              <a:endParaRPr b="0" sz="850">
                <a:solidFill>
                  <a:srgbClr val="334155"/>
                </a:solidFill>
                <a:latin typeface="Arial"/>
                <a:ea typeface="Arial"/>
                <a:cs typeface="Arial"/>
                <a:sym typeface="Arial"/>
              </a:endParaRPr>
            </a:p>
          </p:txBody>
        </p:sp>
      </p:grpSp>
      <p:grpSp>
        <p:nvGrpSpPr>
          <p:cNvPr id="98" name="Google Shape;98;p16"/>
          <p:cNvGrpSpPr/>
          <p:nvPr/>
        </p:nvGrpSpPr>
        <p:grpSpPr>
          <a:xfrm>
            <a:off x="4667250" y="3657600"/>
            <a:ext cx="4000500" cy="723900"/>
            <a:chOff x="4667250" y="3657600"/>
            <a:chExt cx="4000500" cy="723900"/>
          </a:xfrm>
        </p:grpSpPr>
        <p:sp>
          <p:nvSpPr>
            <p:cNvPr id="99" name="Google Shape;99;p16"/>
            <p:cNvSpPr/>
            <p:nvPr/>
          </p:nvSpPr>
          <p:spPr>
            <a:xfrm>
              <a:off x="4667250" y="3657600"/>
              <a:ext cx="4000500" cy="723900"/>
            </a:xfrm>
            <a:prstGeom prst="roundRect">
              <a:avLst>
                <a:gd fmla="val 15789" name="adj"/>
              </a:avLst>
            </a:prstGeom>
            <a:solidFill>
              <a:srgbClr val="F0F9FF"/>
            </a:solidFill>
            <a:ln cap="flat" cmpd="sng" w="14300">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6"/>
            <p:cNvSpPr/>
            <p:nvPr/>
          </p:nvSpPr>
          <p:spPr>
            <a:xfrm>
              <a:off x="4667250" y="3657600"/>
              <a:ext cx="57300" cy="7239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6"/>
            <p:cNvSpPr txBox="1"/>
            <p:nvPr/>
          </p:nvSpPr>
          <p:spPr>
            <a:xfrm>
              <a:off x="4876800" y="3752850"/>
              <a:ext cx="36195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20">
                  <a:solidFill>
                    <a:srgbClr val="EF4444"/>
                  </a:solidFill>
                  <a:latin typeface="Poppins"/>
                  <a:ea typeface="Poppins"/>
                  <a:cs typeface="Poppins"/>
                  <a:sym typeface="Poppins"/>
                </a:rPr>
                <a:t>04 / The Core Flaw</a:t>
              </a:r>
              <a:endParaRPr b="1" sz="1020">
                <a:solidFill>
                  <a:srgbClr val="EF4444"/>
                </a:solidFill>
                <a:latin typeface="Poppins"/>
                <a:ea typeface="Poppins"/>
                <a:cs typeface="Poppins"/>
                <a:sym typeface="Poppins"/>
              </a:endParaRPr>
            </a:p>
            <a:p>
              <a:pPr indent="0" lvl="0" marL="0" rtl="0" algn="l">
                <a:spcBef>
                  <a:spcPts val="600"/>
                </a:spcBef>
                <a:spcAft>
                  <a:spcPts val="0"/>
                </a:spcAft>
                <a:buNone/>
              </a:pPr>
              <a:r>
                <a:rPr b="0" lang="en" sz="850">
                  <a:solidFill>
                    <a:srgbClr val="334155"/>
                  </a:solidFill>
                  <a:latin typeface="Arial"/>
                  <a:ea typeface="Arial"/>
                  <a:cs typeface="Arial"/>
                  <a:sym typeface="Arial"/>
                </a:rPr>
                <a:t>Existing systems rely on </a:t>
              </a:r>
              <a:r>
                <a:rPr b="1" lang="en" sz="850">
                  <a:solidFill>
                    <a:srgbClr val="0F172A"/>
                  </a:solidFill>
                  <a:latin typeface="Arial"/>
                  <a:ea typeface="Arial"/>
                  <a:cs typeface="Arial"/>
                  <a:sym typeface="Arial"/>
                </a:rPr>
                <a:t>centralized servers</a:t>
              </a:r>
              <a:r>
                <a:rPr b="0" lang="en" sz="850">
                  <a:solidFill>
                    <a:srgbClr val="334155"/>
                  </a:solidFill>
                  <a:latin typeface="Arial"/>
                  <a:ea typeface="Arial"/>
                  <a:cs typeface="Arial"/>
                  <a:sym typeface="Arial"/>
                </a:rPr>
                <a:t> that react slowly, fail at scale, and create massive points of failure.</a:t>
              </a:r>
              <a:endParaRPr b="0" sz="850">
                <a:solidFill>
                  <a:srgbClr val="334155"/>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ctrTitle"/>
          </p:nvPr>
        </p:nvSpPr>
        <p:spPr>
          <a:xfrm>
            <a:off x="42951" y="79725"/>
            <a:ext cx="3141000" cy="627900"/>
          </a:xfrm>
          <a:prstGeom prst="rect">
            <a:avLst/>
          </a:prstGeom>
          <a:noFill/>
          <a:ln>
            <a:noFill/>
          </a:ln>
        </p:spPr>
        <p:txBody>
          <a:bodyPr anchorCtr="0" anchor="b" bIns="91425" lIns="91425" spcFirstLastPara="1" rIns="91425" wrap="square" tIns="91425">
            <a:normAutofit/>
          </a:bodyPr>
          <a:lstStyle/>
          <a:p>
            <a:pPr indent="0" lvl="0" marL="0" rtl="0" algn="l">
              <a:lnSpc>
                <a:spcPct val="107916"/>
              </a:lnSpc>
              <a:spcBef>
                <a:spcPts val="1400"/>
              </a:spcBef>
              <a:spcAft>
                <a:spcPts val="400"/>
              </a:spcAft>
              <a:buClr>
                <a:schemeClr val="dk1"/>
              </a:buClr>
              <a:buSzPts val="1100"/>
              <a:buFont typeface="Arial"/>
              <a:buNone/>
            </a:pPr>
            <a:r>
              <a:rPr b="1" lang="en" sz="2800">
                <a:latin typeface="Times New Roman"/>
                <a:ea typeface="Times New Roman"/>
                <a:cs typeface="Times New Roman"/>
                <a:sym typeface="Times New Roman"/>
              </a:rPr>
              <a:t>ABSTRACT</a:t>
            </a:r>
            <a:endParaRPr sz="2800"/>
          </a:p>
        </p:txBody>
      </p:sp>
      <p:pic>
        <p:nvPicPr>
          <p:cNvPr id="107" name="Google Shape;107;p17"/>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08" name="Google Shape;108;p17"/>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109" name="Google Shape;109;p17"/>
          <p:cNvPicPr preferRelativeResize="0"/>
          <p:nvPr/>
        </p:nvPicPr>
        <p:blipFill rotWithShape="1">
          <a:blip r:embed="rId5">
            <a:alphaModFix/>
          </a:blip>
          <a:srcRect b="0" l="0" r="0" t="0"/>
          <a:stretch/>
        </p:blipFill>
        <p:spPr>
          <a:xfrm rot="-5400000">
            <a:off x="4452250" y="436550"/>
            <a:ext cx="256675" cy="9157225"/>
          </a:xfrm>
          <a:prstGeom prst="rect">
            <a:avLst/>
          </a:prstGeom>
          <a:noFill/>
          <a:ln>
            <a:noFill/>
          </a:ln>
        </p:spPr>
      </p:pic>
      <p:sp>
        <p:nvSpPr>
          <p:cNvPr id="110" name="Google Shape;110;p17"/>
          <p:cNvSpPr/>
          <p:nvPr/>
        </p:nvSpPr>
        <p:spPr>
          <a:xfrm>
            <a:off x="305200" y="1080525"/>
            <a:ext cx="3972900" cy="367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7"/>
          <p:cNvSpPr/>
          <p:nvPr/>
        </p:nvSpPr>
        <p:spPr>
          <a:xfrm>
            <a:off x="4471625" y="1072013"/>
            <a:ext cx="4461300" cy="376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7"/>
          <p:cNvSpPr txBox="1"/>
          <p:nvPr/>
        </p:nvSpPr>
        <p:spPr>
          <a:xfrm>
            <a:off x="378950" y="1163475"/>
            <a:ext cx="3788400" cy="34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Core Architectural Advantages</a:t>
            </a:r>
            <a:r>
              <a:rPr lang="en" sz="1800">
                <a:solidFill>
                  <a:schemeClr val="dk2"/>
                </a:solidFill>
              </a:rPr>
              <a:t> </a:t>
            </a:r>
            <a:r>
              <a:rPr lang="en" sz="1800">
                <a:solidFill>
                  <a:schemeClr val="dk2"/>
                </a:solidFill>
              </a:rPr>
              <a:t>Edge-Native Processing: </a:t>
            </a:r>
            <a:endParaRPr sz="1800">
              <a:solidFill>
                <a:schemeClr val="dk2"/>
              </a:solidFill>
            </a:endParaRPr>
          </a:p>
          <a:p>
            <a:pPr indent="457200" lvl="0" marL="0" rtl="0" algn="l">
              <a:spcBef>
                <a:spcPts val="0"/>
              </a:spcBef>
              <a:spcAft>
                <a:spcPts val="0"/>
              </a:spcAft>
              <a:buNone/>
            </a:pPr>
            <a:r>
              <a:rPr lang="en" sz="1800">
                <a:solidFill>
                  <a:schemeClr val="dk2"/>
                </a:solidFill>
              </a:rPr>
              <a:t>AI inference runs directly at intersections.</a:t>
            </a:r>
            <a:endParaRPr sz="1800">
              <a:solidFill>
                <a:schemeClr val="dk2"/>
              </a:solidFill>
            </a:endParaRPr>
          </a:p>
          <a:p>
            <a:pPr indent="457200" lvl="0" marL="0" rtl="0" algn="l">
              <a:spcBef>
                <a:spcPts val="0"/>
              </a:spcBef>
              <a:spcAft>
                <a:spcPts val="0"/>
              </a:spcAft>
              <a:buNone/>
            </a:pPr>
            <a:r>
              <a:rPr lang="en" sz="1800">
                <a:solidFill>
                  <a:schemeClr val="dk2"/>
                </a:solidFill>
              </a:rPr>
              <a:t> Zero Single Point of Failure: System operates if central network fails. </a:t>
            </a:r>
            <a:endParaRPr sz="1800">
              <a:solidFill>
                <a:schemeClr val="dk2"/>
              </a:solidFill>
            </a:endParaRPr>
          </a:p>
          <a:p>
            <a:pPr indent="457200" lvl="0" marL="0" rtl="0" algn="l">
              <a:spcBef>
                <a:spcPts val="0"/>
              </a:spcBef>
              <a:spcAft>
                <a:spcPts val="0"/>
              </a:spcAft>
              <a:buNone/>
            </a:pPr>
            <a:r>
              <a:rPr lang="en" sz="1800">
                <a:solidFill>
                  <a:schemeClr val="dk2"/>
                </a:solidFill>
              </a:rPr>
              <a:t>Connected Node Network: Signals continuously exchange local traffic data.</a:t>
            </a:r>
            <a:endParaRPr sz="1800">
              <a:solidFill>
                <a:schemeClr val="dk2"/>
              </a:solidFill>
            </a:endParaRPr>
          </a:p>
        </p:txBody>
      </p:sp>
      <p:sp>
        <p:nvSpPr>
          <p:cNvPr id="113" name="Google Shape;113;p17"/>
          <p:cNvSpPr txBox="1"/>
          <p:nvPr/>
        </p:nvSpPr>
        <p:spPr>
          <a:xfrm>
            <a:off x="4600675" y="1181925"/>
            <a:ext cx="4230900" cy="35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Performance &amp; Sustainability Impact Millisecond-Level Decisions:</a:t>
            </a:r>
            <a:endParaRPr sz="1800">
              <a:solidFill>
                <a:schemeClr val="dk2"/>
              </a:solidFill>
            </a:endParaRPr>
          </a:p>
          <a:p>
            <a:pPr indent="457200" lvl="0" marL="0" rtl="0" algn="l">
              <a:spcBef>
                <a:spcPts val="0"/>
              </a:spcBef>
              <a:spcAft>
                <a:spcPts val="0"/>
              </a:spcAft>
              <a:buNone/>
            </a:pPr>
            <a:r>
              <a:rPr lang="en" sz="1800">
                <a:solidFill>
                  <a:schemeClr val="dk2"/>
                </a:solidFill>
              </a:rPr>
              <a:t> Drastically lowers communication latency. </a:t>
            </a:r>
            <a:endParaRPr sz="1800">
              <a:solidFill>
                <a:schemeClr val="dk2"/>
              </a:solidFill>
            </a:endParaRPr>
          </a:p>
          <a:p>
            <a:pPr indent="457200" lvl="0" marL="0" rtl="0" algn="l">
              <a:spcBef>
                <a:spcPts val="0"/>
              </a:spcBef>
              <a:spcAft>
                <a:spcPts val="0"/>
              </a:spcAft>
              <a:buNone/>
            </a:pPr>
            <a:r>
              <a:rPr lang="en" sz="1800">
                <a:solidFill>
                  <a:schemeClr val="dk2"/>
                </a:solidFill>
              </a:rPr>
              <a:t>Proactive Congestion Relief: Clears routes before bottlenecks form.  Environmental Benefits: </a:t>
            </a:r>
            <a:endParaRPr sz="1800">
              <a:solidFill>
                <a:schemeClr val="dk2"/>
              </a:solidFill>
            </a:endParaRPr>
          </a:p>
          <a:p>
            <a:pPr indent="457200" lvl="0" marL="0" rtl="0" algn="l">
              <a:spcBef>
                <a:spcPts val="0"/>
              </a:spcBef>
              <a:spcAft>
                <a:spcPts val="0"/>
              </a:spcAft>
              <a:buNone/>
            </a:pPr>
            <a:r>
              <a:rPr lang="en" sz="1800">
                <a:solidFill>
                  <a:schemeClr val="dk2"/>
                </a:solidFill>
              </a:rPr>
              <a:t>Reduces fuel consumption and idle emissions. </a:t>
            </a:r>
            <a:endParaRPr sz="1800">
              <a:solidFill>
                <a:schemeClr val="dk2"/>
              </a:solidFill>
            </a:endParaRPr>
          </a:p>
          <a:p>
            <a:pPr indent="457200" lvl="0" marL="0" rtl="0" algn="l">
              <a:spcBef>
                <a:spcPts val="0"/>
              </a:spcBef>
              <a:spcAft>
                <a:spcPts val="0"/>
              </a:spcAft>
              <a:buNone/>
            </a:pPr>
            <a:r>
              <a:rPr lang="en" sz="1800">
                <a:solidFill>
                  <a:schemeClr val="dk2"/>
                </a:solidFill>
              </a:rPr>
              <a:t>Emergency Vehicle Priority: Optimizes routes for rapid response.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7" name="Shape 117"/>
        <p:cNvGrpSpPr/>
        <p:nvPr/>
      </p:nvGrpSpPr>
      <p:grpSpPr>
        <a:xfrm>
          <a:off x="0" y="0"/>
          <a:ext cx="0" cy="0"/>
          <a:chOff x="0" y="0"/>
          <a:chExt cx="0" cy="0"/>
        </a:xfrm>
      </p:grpSpPr>
      <p:pic>
        <p:nvPicPr>
          <p:cNvPr id="118" name="Google Shape;118;p18"/>
          <p:cNvPicPr preferRelativeResize="0"/>
          <p:nvPr/>
        </p:nvPicPr>
        <p:blipFill rotWithShape="1">
          <a:blip r:embed="rId3">
            <a:alphaModFix/>
          </a:blip>
          <a:srcRect b="1672" l="0" r="0" t="1663"/>
          <a:stretch/>
        </p:blipFill>
        <p:spPr>
          <a:xfrm>
            <a:off x="0" y="4717647"/>
            <a:ext cx="9144000" cy="211800"/>
          </a:xfrm>
          <a:prstGeom prst="rect">
            <a:avLst/>
          </a:prstGeom>
          <a:noFill/>
          <a:ln>
            <a:noFill/>
          </a:ln>
        </p:spPr>
      </p:pic>
      <p:pic>
        <p:nvPicPr>
          <p:cNvPr id="119" name="Google Shape;119;p18"/>
          <p:cNvPicPr preferRelativeResize="0"/>
          <p:nvPr/>
        </p:nvPicPr>
        <p:blipFill rotWithShape="1">
          <a:blip r:embed="rId4">
            <a:alphaModFix/>
          </a:blip>
          <a:srcRect b="0" l="36610" r="36613" t="0"/>
          <a:stretch/>
        </p:blipFill>
        <p:spPr>
          <a:xfrm rot="-5400000">
            <a:off x="4443587" y="431550"/>
            <a:ext cx="256800" cy="9167100"/>
          </a:xfrm>
          <a:prstGeom prst="rect">
            <a:avLst/>
          </a:prstGeom>
          <a:noFill/>
          <a:ln>
            <a:noFill/>
          </a:ln>
        </p:spPr>
      </p:pic>
      <p:pic>
        <p:nvPicPr>
          <p:cNvPr id="120" name="Google Shape;120;p18"/>
          <p:cNvPicPr preferRelativeResize="0"/>
          <p:nvPr/>
        </p:nvPicPr>
        <p:blipFill rotWithShape="1">
          <a:blip r:embed="rId5">
            <a:alphaModFix/>
          </a:blip>
          <a:srcRect b="0" l="36147" r="36147" t="0"/>
          <a:stretch/>
        </p:blipFill>
        <p:spPr>
          <a:xfrm rot="-5400000">
            <a:off x="4412458" y="-3662000"/>
            <a:ext cx="319200" cy="9058200"/>
          </a:xfrm>
          <a:prstGeom prst="rect">
            <a:avLst/>
          </a:prstGeom>
          <a:noFill/>
          <a:ln>
            <a:noFill/>
          </a:ln>
        </p:spPr>
      </p:pic>
      <p:sp>
        <p:nvSpPr>
          <p:cNvPr id="121" name="Google Shape;121;p18"/>
          <p:cNvSpPr txBox="1"/>
          <p:nvPr/>
        </p:nvSpPr>
        <p:spPr>
          <a:xfrm>
            <a:off x="171450" y="190500"/>
            <a:ext cx="8191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1" lang="en" sz="2800">
                <a:solidFill>
                  <a:srgbClr val="000000"/>
                </a:solidFill>
                <a:latin typeface="Times New Roman"/>
                <a:ea typeface="Times New Roman"/>
                <a:cs typeface="Times New Roman"/>
                <a:sym typeface="Times New Roman"/>
              </a:rPr>
              <a:t>ABSTRACT</a:t>
            </a:r>
            <a:endParaRPr b="1" sz="2800">
              <a:solidFill>
                <a:srgbClr val="000000"/>
              </a:solidFill>
              <a:latin typeface="Times New Roman"/>
              <a:ea typeface="Times New Roman"/>
              <a:cs typeface="Times New Roman"/>
              <a:sym typeface="Times New Roman"/>
            </a:endParaRPr>
          </a:p>
        </p:txBody>
      </p:sp>
      <p:grpSp>
        <p:nvGrpSpPr>
          <p:cNvPr id="122" name="Google Shape;122;p18"/>
          <p:cNvGrpSpPr/>
          <p:nvPr/>
        </p:nvGrpSpPr>
        <p:grpSpPr>
          <a:xfrm>
            <a:off x="266700" y="1143000"/>
            <a:ext cx="3905400" cy="3238500"/>
            <a:chOff x="266700" y="1143000"/>
            <a:chExt cx="3905400" cy="3238500"/>
          </a:xfrm>
        </p:grpSpPr>
        <p:sp>
          <p:nvSpPr>
            <p:cNvPr id="123" name="Google Shape;123;p18"/>
            <p:cNvSpPr/>
            <p:nvPr/>
          </p:nvSpPr>
          <p:spPr>
            <a:xfrm>
              <a:off x="266700" y="1143000"/>
              <a:ext cx="3905400" cy="32385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sleek, futuristic smart traffic control room with glowing holographic city maps, displaying real-time data streams and connected neural network nodes monitoring traffic flow, tech-forward and aesthetic." id="124" name="Google Shape;124;p18"/>
            <p:cNvPicPr preferRelativeResize="0"/>
            <p:nvPr/>
          </p:nvPicPr>
          <p:blipFill rotWithShape="1">
            <a:blip r:embed="rId6">
              <a:alphaModFix/>
            </a:blip>
            <a:srcRect b="0" l="4775" r="4784" t="0"/>
            <a:stretch/>
          </p:blipFill>
          <p:spPr>
            <a:xfrm>
              <a:off x="266700" y="1143000"/>
              <a:ext cx="3905400" cy="3238500"/>
            </a:xfrm>
            <a:prstGeom prst="roundRect">
              <a:avLst>
                <a:gd fmla="val 4705" name="adj"/>
              </a:avLst>
            </a:prstGeom>
            <a:noFill/>
            <a:ln>
              <a:noFill/>
            </a:ln>
          </p:spPr>
        </p:pic>
      </p:grpSp>
      <p:grpSp>
        <p:nvGrpSpPr>
          <p:cNvPr id="125" name="Google Shape;125;p18"/>
          <p:cNvGrpSpPr/>
          <p:nvPr/>
        </p:nvGrpSpPr>
        <p:grpSpPr>
          <a:xfrm>
            <a:off x="4457700" y="1143000"/>
            <a:ext cx="4400700" cy="1009800"/>
            <a:chOff x="4457700" y="1143000"/>
            <a:chExt cx="4400700" cy="1009800"/>
          </a:xfrm>
        </p:grpSpPr>
        <p:sp>
          <p:nvSpPr>
            <p:cNvPr id="126" name="Google Shape;126;p18"/>
            <p:cNvSpPr/>
            <p:nvPr/>
          </p:nvSpPr>
          <p:spPr>
            <a:xfrm>
              <a:off x="4457700" y="1143000"/>
              <a:ext cx="4400700" cy="1009800"/>
            </a:xfrm>
            <a:prstGeom prst="roundRect">
              <a:avLst>
                <a:gd fmla="val 1132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8"/>
            <p:cNvSpPr/>
            <p:nvPr/>
          </p:nvSpPr>
          <p:spPr>
            <a:xfrm>
              <a:off x="4457700" y="1143000"/>
              <a:ext cx="57300" cy="1009800"/>
            </a:xfrm>
            <a:prstGeom prst="roundRect">
              <a:avLst>
                <a:gd fmla="val 5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8"/>
            <p:cNvSpPr txBox="1"/>
            <p:nvPr/>
          </p:nvSpPr>
          <p:spPr>
            <a:xfrm>
              <a:off x="4667250" y="1257300"/>
              <a:ext cx="4048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0EA5E9"/>
                  </a:solidFill>
                  <a:latin typeface="Poppins"/>
                  <a:ea typeface="Poppins"/>
                  <a:cs typeface="Poppins"/>
                  <a:sym typeface="Poppins"/>
                </a:rPr>
                <a:t>01 / EDGE-NATIVE INTELLIGENCE</a:t>
              </a:r>
              <a:endParaRPr b="1" sz="765">
                <a:solidFill>
                  <a:srgbClr val="0EA5E9"/>
                </a:solidFill>
                <a:latin typeface="Poppins"/>
                <a:ea typeface="Poppins"/>
                <a:cs typeface="Poppins"/>
                <a:sym typeface="Poppins"/>
              </a:endParaRPr>
            </a:p>
            <a:p>
              <a:pPr indent="0" lvl="0" marL="0" rtl="0" algn="l">
                <a:spcBef>
                  <a:spcPts val="450"/>
                </a:spcBef>
                <a:spcAft>
                  <a:spcPts val="0"/>
                </a:spcAft>
                <a:buNone/>
              </a:pPr>
              <a:r>
                <a:rPr b="1" lang="en" sz="1020">
                  <a:solidFill>
                    <a:srgbClr val="0F172A"/>
                  </a:solidFill>
                  <a:latin typeface="Poppins"/>
                  <a:ea typeface="Poppins"/>
                  <a:cs typeface="Poppins"/>
                  <a:sym typeface="Poppins"/>
                </a:rPr>
                <a:t>Decentralized Real-Time Inference</a:t>
              </a:r>
              <a:endParaRPr b="1" sz="1020">
                <a:solidFill>
                  <a:srgbClr val="0F172A"/>
                </a:solidFill>
                <a:latin typeface="Poppins"/>
                <a:ea typeface="Poppins"/>
                <a:cs typeface="Poppins"/>
                <a:sym typeface="Poppins"/>
              </a:endParaRPr>
            </a:p>
            <a:p>
              <a:pPr indent="0" lvl="0" marL="0" rtl="0" algn="l">
                <a:spcBef>
                  <a:spcPts val="450"/>
                </a:spcBef>
                <a:spcAft>
                  <a:spcPts val="450"/>
                </a:spcAft>
                <a:buNone/>
              </a:pPr>
              <a:r>
                <a:rPr b="0" lang="en" sz="808">
                  <a:solidFill>
                    <a:srgbClr val="475569"/>
                  </a:solidFill>
                  <a:latin typeface="Arial"/>
                  <a:ea typeface="Arial"/>
                  <a:cs typeface="Arial"/>
                  <a:sym typeface="Arial"/>
                </a:rPr>
                <a:t>TrafficFlow AI performs inference directly at </a:t>
              </a:r>
              <a:r>
                <a:rPr b="1" lang="en" sz="808">
                  <a:solidFill>
                    <a:srgbClr val="0EA5E9"/>
                  </a:solidFill>
                  <a:latin typeface="Arial"/>
                  <a:ea typeface="Arial"/>
                  <a:cs typeface="Arial"/>
                  <a:sym typeface="Arial"/>
                </a:rPr>
                <a:t>each intersection</a:t>
              </a:r>
              <a:r>
                <a:rPr b="0" lang="en" sz="808">
                  <a:solidFill>
                    <a:srgbClr val="475569"/>
                  </a:solidFill>
                  <a:latin typeface="Arial"/>
                  <a:ea typeface="Arial"/>
                  <a:cs typeface="Arial"/>
                  <a:sym typeface="Arial"/>
                </a:rPr>
                <a:t>, enabling millisecond-level decisions and continued operations even during network failures.</a:t>
              </a:r>
              <a:endParaRPr b="0" sz="808">
                <a:solidFill>
                  <a:srgbClr val="475569"/>
                </a:solidFill>
                <a:latin typeface="Arial"/>
                <a:ea typeface="Arial"/>
                <a:cs typeface="Arial"/>
                <a:sym typeface="Arial"/>
              </a:endParaRPr>
            </a:p>
          </p:txBody>
        </p:sp>
      </p:grpSp>
      <p:grpSp>
        <p:nvGrpSpPr>
          <p:cNvPr id="129" name="Google Shape;129;p18"/>
          <p:cNvGrpSpPr/>
          <p:nvPr/>
        </p:nvGrpSpPr>
        <p:grpSpPr>
          <a:xfrm>
            <a:off x="4457700" y="2266950"/>
            <a:ext cx="4400700" cy="1009800"/>
            <a:chOff x="4457700" y="2266950"/>
            <a:chExt cx="4400700" cy="1009800"/>
          </a:xfrm>
        </p:grpSpPr>
        <p:sp>
          <p:nvSpPr>
            <p:cNvPr id="130" name="Google Shape;130;p18"/>
            <p:cNvSpPr/>
            <p:nvPr/>
          </p:nvSpPr>
          <p:spPr>
            <a:xfrm>
              <a:off x="4457700" y="2266950"/>
              <a:ext cx="4400700" cy="1009800"/>
            </a:xfrm>
            <a:prstGeom prst="roundRect">
              <a:avLst>
                <a:gd fmla="val 1132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8"/>
            <p:cNvSpPr/>
            <p:nvPr/>
          </p:nvSpPr>
          <p:spPr>
            <a:xfrm>
              <a:off x="4457700" y="2266950"/>
              <a:ext cx="57300" cy="1009800"/>
            </a:xfrm>
            <a:prstGeom prst="roundRect">
              <a:avLst>
                <a:gd fmla="val 5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8"/>
            <p:cNvSpPr txBox="1"/>
            <p:nvPr/>
          </p:nvSpPr>
          <p:spPr>
            <a:xfrm>
              <a:off x="4667250" y="2381250"/>
              <a:ext cx="4048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0EA5E9"/>
                  </a:solidFill>
                  <a:latin typeface="Poppins"/>
                  <a:ea typeface="Poppins"/>
                  <a:cs typeface="Poppins"/>
                  <a:sym typeface="Poppins"/>
                </a:rPr>
                <a:t>02 / PROACTIVE OPTIMIZATION</a:t>
              </a:r>
              <a:endParaRPr b="1" sz="765">
                <a:solidFill>
                  <a:srgbClr val="0EA5E9"/>
                </a:solidFill>
                <a:latin typeface="Poppins"/>
                <a:ea typeface="Poppins"/>
                <a:cs typeface="Poppins"/>
                <a:sym typeface="Poppins"/>
              </a:endParaRPr>
            </a:p>
            <a:p>
              <a:pPr indent="0" lvl="0" marL="0" rtl="0" algn="l">
                <a:spcBef>
                  <a:spcPts val="450"/>
                </a:spcBef>
                <a:spcAft>
                  <a:spcPts val="0"/>
                </a:spcAft>
                <a:buNone/>
              </a:pPr>
              <a:r>
                <a:rPr b="1" lang="en" sz="1020">
                  <a:solidFill>
                    <a:srgbClr val="0F172A"/>
                  </a:solidFill>
                  <a:latin typeface="Poppins"/>
                  <a:ea typeface="Poppins"/>
                  <a:cs typeface="Poppins"/>
                  <a:sym typeface="Poppins"/>
                </a:rPr>
                <a:t>Predictive Queue &amp; Signal Control</a:t>
              </a:r>
              <a:endParaRPr b="1" sz="1020">
                <a:solidFill>
                  <a:srgbClr val="0F172A"/>
                </a:solidFill>
                <a:latin typeface="Poppins"/>
                <a:ea typeface="Poppins"/>
                <a:cs typeface="Poppins"/>
                <a:sym typeface="Poppins"/>
              </a:endParaRPr>
            </a:p>
            <a:p>
              <a:pPr indent="0" lvl="0" marL="0" rtl="0" algn="l">
                <a:spcBef>
                  <a:spcPts val="450"/>
                </a:spcBef>
                <a:spcAft>
                  <a:spcPts val="450"/>
                </a:spcAft>
                <a:buNone/>
              </a:pPr>
              <a:r>
                <a:rPr b="0" lang="en" sz="808">
                  <a:solidFill>
                    <a:srgbClr val="475569"/>
                  </a:solidFill>
                  <a:latin typeface="Arial"/>
                  <a:ea typeface="Arial"/>
                  <a:cs typeface="Arial"/>
                  <a:sym typeface="Arial"/>
                </a:rPr>
                <a:t>Continuously exchanges local data to predict vehicle platoons and clear routes </a:t>
              </a:r>
              <a:r>
                <a:rPr b="1" lang="en" sz="808">
                  <a:solidFill>
                    <a:srgbClr val="0EA5E9"/>
                  </a:solidFill>
                  <a:latin typeface="Arial"/>
                  <a:ea typeface="Arial"/>
                  <a:cs typeface="Arial"/>
                  <a:sym typeface="Arial"/>
                </a:rPr>
                <a:t>before congestion forms</a:t>
              </a:r>
              <a:r>
                <a:rPr b="0" lang="en" sz="808">
                  <a:solidFill>
                    <a:srgbClr val="475569"/>
                  </a:solidFill>
                  <a:latin typeface="Arial"/>
                  <a:ea typeface="Arial"/>
                  <a:cs typeface="Arial"/>
                  <a:sym typeface="Arial"/>
                </a:rPr>
                <a:t>, minimizing travel delays.</a:t>
              </a:r>
              <a:endParaRPr b="0" sz="808">
                <a:solidFill>
                  <a:srgbClr val="475569"/>
                </a:solidFill>
                <a:latin typeface="Arial"/>
                <a:ea typeface="Arial"/>
                <a:cs typeface="Arial"/>
                <a:sym typeface="Arial"/>
              </a:endParaRPr>
            </a:p>
          </p:txBody>
        </p:sp>
      </p:grpSp>
      <p:grpSp>
        <p:nvGrpSpPr>
          <p:cNvPr id="133" name="Google Shape;133;p18"/>
          <p:cNvGrpSpPr/>
          <p:nvPr/>
        </p:nvGrpSpPr>
        <p:grpSpPr>
          <a:xfrm>
            <a:off x="4457700" y="3390900"/>
            <a:ext cx="4400700" cy="990600"/>
            <a:chOff x="4457700" y="3390900"/>
            <a:chExt cx="4400700" cy="990600"/>
          </a:xfrm>
        </p:grpSpPr>
        <p:sp>
          <p:nvSpPr>
            <p:cNvPr id="134" name="Google Shape;134;p18"/>
            <p:cNvSpPr/>
            <p:nvPr/>
          </p:nvSpPr>
          <p:spPr>
            <a:xfrm>
              <a:off x="4457700" y="3390900"/>
              <a:ext cx="4400700" cy="990600"/>
            </a:xfrm>
            <a:prstGeom prst="roundRect">
              <a:avLst>
                <a:gd fmla="val 1153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8"/>
            <p:cNvSpPr/>
            <p:nvPr/>
          </p:nvSpPr>
          <p:spPr>
            <a:xfrm>
              <a:off x="4457700" y="3390900"/>
              <a:ext cx="57300" cy="990600"/>
            </a:xfrm>
            <a:prstGeom prst="roundRect">
              <a:avLst>
                <a:gd fmla="val 5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8"/>
            <p:cNvSpPr txBox="1"/>
            <p:nvPr/>
          </p:nvSpPr>
          <p:spPr>
            <a:xfrm>
              <a:off x="4667250" y="3505200"/>
              <a:ext cx="4048200" cy="7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0EA5E9"/>
                  </a:solidFill>
                  <a:latin typeface="Poppins"/>
                  <a:ea typeface="Poppins"/>
                  <a:cs typeface="Poppins"/>
                  <a:sym typeface="Poppins"/>
                </a:rPr>
                <a:t>03 / SMART CITY SYNERGY</a:t>
              </a:r>
              <a:endParaRPr b="1" sz="765">
                <a:solidFill>
                  <a:srgbClr val="0EA5E9"/>
                </a:solidFill>
                <a:latin typeface="Poppins"/>
                <a:ea typeface="Poppins"/>
                <a:cs typeface="Poppins"/>
                <a:sym typeface="Poppins"/>
              </a:endParaRPr>
            </a:p>
            <a:p>
              <a:pPr indent="0" lvl="0" marL="0" rtl="0" algn="l">
                <a:spcBef>
                  <a:spcPts val="450"/>
                </a:spcBef>
                <a:spcAft>
                  <a:spcPts val="0"/>
                </a:spcAft>
                <a:buNone/>
              </a:pPr>
              <a:r>
                <a:rPr b="1" lang="en" sz="1020">
                  <a:solidFill>
                    <a:srgbClr val="0F172A"/>
                  </a:solidFill>
                  <a:latin typeface="Poppins"/>
                  <a:ea typeface="Poppins"/>
                  <a:cs typeface="Poppins"/>
                  <a:sym typeface="Poppins"/>
                </a:rPr>
                <a:t>Scalable &amp; Resilient Architecture</a:t>
              </a:r>
              <a:endParaRPr b="1" sz="1020">
                <a:solidFill>
                  <a:srgbClr val="0F172A"/>
                </a:solidFill>
                <a:latin typeface="Poppins"/>
                <a:ea typeface="Poppins"/>
                <a:cs typeface="Poppins"/>
                <a:sym typeface="Poppins"/>
              </a:endParaRPr>
            </a:p>
            <a:p>
              <a:pPr indent="0" lvl="0" marL="0" rtl="0" algn="l">
                <a:spcBef>
                  <a:spcPts val="450"/>
                </a:spcBef>
                <a:spcAft>
                  <a:spcPts val="450"/>
                </a:spcAft>
                <a:buNone/>
              </a:pPr>
              <a:r>
                <a:rPr b="0" lang="en" sz="808">
                  <a:solidFill>
                    <a:srgbClr val="475569"/>
                  </a:solidFill>
                  <a:latin typeface="Arial"/>
                  <a:ea typeface="Arial"/>
                  <a:cs typeface="Arial"/>
                  <a:sym typeface="Arial"/>
                </a:rPr>
                <a:t>Eliminates single points of failure to deliver high scalability, lower emissions, and improved emergency vehicle routing.</a:t>
              </a:r>
              <a:endParaRPr b="0" sz="808">
                <a:solidFill>
                  <a:srgbClr val="475569"/>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ctrTitle"/>
          </p:nvPr>
        </p:nvSpPr>
        <p:spPr>
          <a:xfrm>
            <a:off x="311700" y="1210375"/>
            <a:ext cx="8520600" cy="30063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SzPts val="1300"/>
              <a:buChar char="●"/>
            </a:pPr>
            <a:r>
              <a:rPr b="1" lang="en" sz="1300"/>
              <a:t>Edge Inference:</a:t>
            </a:r>
            <a:r>
              <a:rPr lang="en" sz="1300"/>
              <a:t> Compact ML models deployed on lightweight edge nodes (e.g., NVIDIA Jetson) for ultra-low latency predictions.</a:t>
            </a:r>
            <a:endParaRPr sz="1300"/>
          </a:p>
          <a:p>
            <a:pPr indent="-311150" lvl="0" marL="457200" rtl="0" algn="l">
              <a:lnSpc>
                <a:spcPct val="115000"/>
              </a:lnSpc>
              <a:spcBef>
                <a:spcPts val="0"/>
              </a:spcBef>
              <a:spcAft>
                <a:spcPts val="0"/>
              </a:spcAft>
              <a:buSzPts val="1300"/>
              <a:buChar char="●"/>
            </a:pPr>
            <a:r>
              <a:rPr b="1" lang="en" sz="1300"/>
              <a:t>Mesh Networking:</a:t>
            </a:r>
            <a:r>
              <a:rPr lang="en" sz="1300"/>
              <a:t> Low-latency peer-to-peer protocols (MQTT/CoAP) used strictly for intersection-to-intersection state communication.</a:t>
            </a:r>
            <a:endParaRPr sz="1300"/>
          </a:p>
          <a:p>
            <a:pPr indent="-311150" lvl="0" marL="457200" rtl="0" algn="l">
              <a:lnSpc>
                <a:spcPct val="115000"/>
              </a:lnSpc>
              <a:spcBef>
                <a:spcPts val="0"/>
              </a:spcBef>
              <a:spcAft>
                <a:spcPts val="0"/>
              </a:spcAft>
              <a:buSzPts val="1300"/>
              <a:buChar char="●"/>
            </a:pPr>
            <a:r>
              <a:rPr b="1" lang="en" sz="1300"/>
              <a:t>Sensor Fusion:</a:t>
            </a:r>
            <a:r>
              <a:rPr lang="en" sz="1300"/>
              <a:t> Integration of radar, intelligent cameras, and legacy loop data to stream robust, anonymized vehicle tracking.</a:t>
            </a:r>
            <a:endParaRPr sz="1300"/>
          </a:p>
          <a:p>
            <a:pPr indent="-311150" lvl="0" marL="457200" rtl="0" algn="l">
              <a:lnSpc>
                <a:spcPct val="115000"/>
              </a:lnSpc>
              <a:spcBef>
                <a:spcPts val="0"/>
              </a:spcBef>
              <a:spcAft>
                <a:spcPts val="0"/>
              </a:spcAft>
              <a:buSzPts val="1300"/>
              <a:buChar char="●"/>
            </a:pPr>
            <a:r>
              <a:rPr b="1" lang="en" sz="1300"/>
              <a:t>City Cloud Learning:</a:t>
            </a:r>
            <a:r>
              <a:rPr lang="en" sz="1300"/>
              <a:t> Federated periodic model updates and long-term KPI analytics processed in the cloud for systemic improvements.</a:t>
            </a:r>
            <a:endParaRPr sz="1300"/>
          </a:p>
          <a:p>
            <a:pPr indent="0" lvl="0" marL="0" rtl="0" algn="l">
              <a:lnSpc>
                <a:spcPct val="107916"/>
              </a:lnSpc>
              <a:spcBef>
                <a:spcPts val="1400"/>
              </a:spcBef>
              <a:spcAft>
                <a:spcPts val="400"/>
              </a:spcAft>
              <a:buClr>
                <a:schemeClr val="dk1"/>
              </a:buClr>
              <a:buSzPts val="1100"/>
              <a:buFont typeface="Arial"/>
              <a:buNone/>
            </a:pPr>
            <a:r>
              <a:t/>
            </a:r>
            <a:endParaRPr b="1" sz="1100"/>
          </a:p>
        </p:txBody>
      </p:sp>
      <p:pic>
        <p:nvPicPr>
          <p:cNvPr id="142" name="Google Shape;142;p19"/>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43" name="Google Shape;143;p19"/>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144" name="Google Shape;144;p19"/>
          <p:cNvPicPr preferRelativeResize="0"/>
          <p:nvPr/>
        </p:nvPicPr>
        <p:blipFill rotWithShape="1">
          <a:blip r:embed="rId5">
            <a:alphaModFix/>
          </a:blip>
          <a:srcRect b="0" l="0" r="0" t="0"/>
          <a:stretch/>
        </p:blipFill>
        <p:spPr>
          <a:xfrm rot="-5400000">
            <a:off x="4452250" y="436550"/>
            <a:ext cx="256675" cy="9157225"/>
          </a:xfrm>
          <a:prstGeom prst="rect">
            <a:avLst/>
          </a:prstGeom>
          <a:noFill/>
          <a:ln>
            <a:noFill/>
          </a:ln>
        </p:spPr>
      </p:pic>
      <p:sp>
        <p:nvSpPr>
          <p:cNvPr id="145" name="Google Shape;145;p19"/>
          <p:cNvSpPr txBox="1"/>
          <p:nvPr/>
        </p:nvSpPr>
        <p:spPr>
          <a:xfrm>
            <a:off x="111000" y="73325"/>
            <a:ext cx="5480400" cy="634200"/>
          </a:xfrm>
          <a:prstGeom prst="rect">
            <a:avLst/>
          </a:prstGeom>
          <a:noFill/>
          <a:ln>
            <a:noFill/>
          </a:ln>
        </p:spPr>
        <p:txBody>
          <a:bodyPr anchorCtr="0" anchor="t" bIns="91425" lIns="91425" spcFirstLastPara="1" rIns="91425" wrap="square" tIns="91425">
            <a:noAutofit/>
          </a:bodyPr>
          <a:lstStyle/>
          <a:p>
            <a:pPr indent="0" lvl="0" marL="0" marR="0" rtl="0" algn="l">
              <a:lnSpc>
                <a:spcPct val="107916"/>
              </a:lnSpc>
              <a:spcBef>
                <a:spcPts val="1400"/>
              </a:spcBef>
              <a:spcAft>
                <a:spcPts val="400"/>
              </a:spcAft>
              <a:buClr>
                <a:schemeClr val="dk1"/>
              </a:buClr>
              <a:buSzPts val="1100"/>
              <a:buFont typeface="Arial"/>
              <a:buNone/>
            </a:pPr>
            <a:r>
              <a:rPr b="1" i="0" lang="en" sz="2800" u="none" cap="none" strike="noStrike">
                <a:solidFill>
                  <a:schemeClr val="dk1"/>
                </a:solidFill>
                <a:latin typeface="Times New Roman"/>
                <a:ea typeface="Times New Roman"/>
                <a:cs typeface="Times New Roman"/>
                <a:sym typeface="Times New Roman"/>
              </a:rPr>
              <a:t>TECH STACK</a:t>
            </a:r>
            <a:endParaRPr b="0" i="0" sz="28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ctrTitle"/>
          </p:nvPr>
        </p:nvSpPr>
        <p:spPr>
          <a:xfrm>
            <a:off x="42950" y="1232850"/>
            <a:ext cx="8642100" cy="306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83193"/>
              <a:buFont typeface="Arial"/>
              <a:buNone/>
            </a:pPr>
            <a:r>
              <a:rPr b="1" lang="en" sz="1322"/>
              <a:t>The Status Quo:</a:t>
            </a:r>
            <a:r>
              <a:rPr lang="en" sz="1322"/>
              <a:t> Legacy systems (SCATS / SCOOT) rely heavily on central servers with fixed or slowly adapting timing algorithms.</a:t>
            </a:r>
            <a:endParaRPr sz="1322"/>
          </a:p>
          <a:p>
            <a:pPr indent="-304165" lvl="0" marL="457200" rtl="0" algn="l">
              <a:lnSpc>
                <a:spcPct val="115000"/>
              </a:lnSpc>
              <a:spcBef>
                <a:spcPts val="1200"/>
              </a:spcBef>
              <a:spcAft>
                <a:spcPts val="0"/>
              </a:spcAft>
              <a:buSzPct val="100000"/>
              <a:buChar char="●"/>
            </a:pPr>
            <a:r>
              <a:rPr lang="en" sz="1322"/>
              <a:t>Treat intersections as isolated nodes.</a:t>
            </a:r>
            <a:endParaRPr sz="1322"/>
          </a:p>
          <a:p>
            <a:pPr indent="-304165" lvl="0" marL="457200" rtl="0" algn="l">
              <a:lnSpc>
                <a:spcPct val="115000"/>
              </a:lnSpc>
              <a:spcBef>
                <a:spcPts val="0"/>
              </a:spcBef>
              <a:spcAft>
                <a:spcPts val="0"/>
              </a:spcAft>
              <a:buSzPct val="100000"/>
              <a:buChar char="●"/>
            </a:pPr>
            <a:r>
              <a:rPr lang="en" sz="1322"/>
              <a:t>High dependency on mainframe connection.</a:t>
            </a:r>
            <a:endParaRPr sz="1322"/>
          </a:p>
          <a:p>
            <a:pPr indent="-304165" lvl="0" marL="457200" rtl="0" algn="l">
              <a:lnSpc>
                <a:spcPct val="115000"/>
              </a:lnSpc>
              <a:spcBef>
                <a:spcPts val="0"/>
              </a:spcBef>
              <a:spcAft>
                <a:spcPts val="0"/>
              </a:spcAft>
              <a:buSzPct val="100000"/>
              <a:buChar char="●"/>
            </a:pPr>
            <a:r>
              <a:rPr lang="en" sz="1322"/>
              <a:t>Rule-based rather than predictive.</a:t>
            </a:r>
            <a:endParaRPr sz="1322"/>
          </a:p>
          <a:p>
            <a:pPr indent="0" lvl="0" marL="0" rtl="0" algn="l">
              <a:lnSpc>
                <a:spcPct val="115000"/>
              </a:lnSpc>
              <a:spcBef>
                <a:spcPts val="1200"/>
              </a:spcBef>
              <a:spcAft>
                <a:spcPts val="0"/>
              </a:spcAft>
              <a:buClr>
                <a:schemeClr val="dk1"/>
              </a:buClr>
              <a:buSzPct val="83193"/>
              <a:buFont typeface="Arial"/>
              <a:buNone/>
            </a:pPr>
            <a:r>
              <a:rPr b="1" lang="en" sz="1322"/>
              <a:t>Critical Drawbacks:</a:t>
            </a:r>
            <a:endParaRPr b="1" sz="1322"/>
          </a:p>
          <a:p>
            <a:pPr indent="-304165" lvl="0" marL="457200" rtl="0" algn="l">
              <a:lnSpc>
                <a:spcPct val="115000"/>
              </a:lnSpc>
              <a:spcBef>
                <a:spcPts val="1200"/>
              </a:spcBef>
              <a:spcAft>
                <a:spcPts val="0"/>
              </a:spcAft>
              <a:buSzPct val="100000"/>
              <a:buChar char="●"/>
            </a:pPr>
            <a:r>
              <a:rPr b="1" lang="en" sz="1322"/>
              <a:t>Single Point Failure:</a:t>
            </a:r>
            <a:r>
              <a:rPr lang="en" sz="1322"/>
              <a:t> Outages paralyze the city.</a:t>
            </a:r>
            <a:endParaRPr sz="1322"/>
          </a:p>
          <a:p>
            <a:pPr indent="-304165" lvl="0" marL="457200" rtl="0" algn="l">
              <a:lnSpc>
                <a:spcPct val="115000"/>
              </a:lnSpc>
              <a:spcBef>
                <a:spcPts val="0"/>
              </a:spcBef>
              <a:spcAft>
                <a:spcPts val="0"/>
              </a:spcAft>
              <a:buSzPct val="100000"/>
              <a:buChar char="●"/>
            </a:pPr>
            <a:r>
              <a:rPr b="1" lang="en" sz="1322"/>
              <a:t>High Latency:</a:t>
            </a:r>
            <a:r>
              <a:rPr lang="en" sz="1322"/>
              <a:t> Struggles to react to anomalies.</a:t>
            </a:r>
            <a:endParaRPr sz="1322"/>
          </a:p>
          <a:p>
            <a:pPr indent="-291465" lvl="0" marL="457200" rtl="0" algn="l">
              <a:lnSpc>
                <a:spcPct val="115000"/>
              </a:lnSpc>
              <a:spcBef>
                <a:spcPts val="0"/>
              </a:spcBef>
              <a:spcAft>
                <a:spcPts val="0"/>
              </a:spcAft>
              <a:buSzPct val="83193"/>
              <a:buChar char="●"/>
            </a:pPr>
            <a:r>
              <a:rPr b="1" lang="en" sz="1322"/>
              <a:t>Symptom Management:</a:t>
            </a:r>
            <a:r>
              <a:rPr lang="en" sz="1322"/>
              <a:t> Blindly pushes traffic to the next signal, creating cascading bottlenecks rather than solving route flow</a:t>
            </a:r>
            <a:r>
              <a:rPr lang="en" sz="1100"/>
              <a:t>.</a:t>
            </a:r>
            <a:endParaRPr sz="1100"/>
          </a:p>
          <a:p>
            <a:pPr indent="0" lvl="0" marL="0" rtl="0" algn="l">
              <a:lnSpc>
                <a:spcPct val="107916"/>
              </a:lnSpc>
              <a:spcBef>
                <a:spcPts val="1200"/>
              </a:spcBef>
              <a:spcAft>
                <a:spcPts val="0"/>
              </a:spcAft>
              <a:buClr>
                <a:schemeClr val="dk1"/>
              </a:buClr>
              <a:buSzPct val="78571"/>
              <a:buFont typeface="Arial"/>
              <a:buNone/>
            </a:pPr>
            <a:r>
              <a:t/>
            </a:r>
            <a:endParaRPr sz="1400"/>
          </a:p>
        </p:txBody>
      </p:sp>
      <p:pic>
        <p:nvPicPr>
          <p:cNvPr id="151" name="Google Shape;151;p20"/>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52" name="Google Shape;152;p20"/>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153" name="Google Shape;153;p20"/>
          <p:cNvPicPr preferRelativeResize="0"/>
          <p:nvPr/>
        </p:nvPicPr>
        <p:blipFill rotWithShape="1">
          <a:blip r:embed="rId5">
            <a:alphaModFix/>
          </a:blip>
          <a:srcRect b="0" l="0" r="0" t="0"/>
          <a:stretch/>
        </p:blipFill>
        <p:spPr>
          <a:xfrm rot="-5400000">
            <a:off x="4452250" y="436550"/>
            <a:ext cx="256675" cy="9157225"/>
          </a:xfrm>
          <a:prstGeom prst="rect">
            <a:avLst/>
          </a:prstGeom>
          <a:noFill/>
          <a:ln>
            <a:noFill/>
          </a:ln>
        </p:spPr>
      </p:pic>
      <p:sp>
        <p:nvSpPr>
          <p:cNvPr id="154" name="Google Shape;154;p20"/>
          <p:cNvSpPr txBox="1"/>
          <p:nvPr/>
        </p:nvSpPr>
        <p:spPr>
          <a:xfrm>
            <a:off x="41625" y="63425"/>
            <a:ext cx="7492200" cy="604500"/>
          </a:xfrm>
          <a:prstGeom prst="rect">
            <a:avLst/>
          </a:prstGeom>
          <a:noFill/>
          <a:ln>
            <a:noFill/>
          </a:ln>
        </p:spPr>
        <p:txBody>
          <a:bodyPr anchorCtr="0" anchor="t" bIns="91425" lIns="91425" spcFirstLastPara="1" rIns="91425" wrap="square" tIns="91425">
            <a:noAutofit/>
          </a:bodyPr>
          <a:lstStyle/>
          <a:p>
            <a:pPr indent="0" lvl="0" marL="0" marR="0" rtl="0" algn="l">
              <a:lnSpc>
                <a:spcPct val="107916"/>
              </a:lnSpc>
              <a:spcBef>
                <a:spcPts val="1400"/>
              </a:spcBef>
              <a:spcAft>
                <a:spcPts val="400"/>
              </a:spcAft>
              <a:buClr>
                <a:schemeClr val="dk1"/>
              </a:buClr>
              <a:buSzPts val="1100"/>
              <a:buFont typeface="Arial"/>
              <a:buNone/>
            </a:pPr>
            <a:r>
              <a:rPr b="1" i="0" lang="en" sz="2800" u="none" cap="none" strike="noStrike">
                <a:solidFill>
                  <a:schemeClr val="dk1"/>
                </a:solidFill>
                <a:latin typeface="Times New Roman"/>
                <a:ea typeface="Times New Roman"/>
                <a:cs typeface="Times New Roman"/>
                <a:sym typeface="Times New Roman"/>
              </a:rPr>
              <a:t>EXISTING SOLUTIONS &amp; DRAWBACKS </a:t>
            </a:r>
            <a:endParaRPr b="0" i="0" sz="28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ctrTitle"/>
          </p:nvPr>
        </p:nvSpPr>
        <p:spPr>
          <a:xfrm>
            <a:off x="311700" y="1210375"/>
            <a:ext cx="8520600" cy="333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990"/>
              <a:buFont typeface="Arial"/>
              <a:buNone/>
            </a:pPr>
            <a:r>
              <a:rPr lang="en" sz="1190"/>
              <a:t>Traffic Flow</a:t>
            </a:r>
            <a:r>
              <a:rPr lang="en" sz="1190"/>
              <a:t> AI decentralizes traffic management by placing AI intelligence directly at every intersection. Instead of transmitting all traffic data to a central server for processing, each edge node performs real-time inference using local sensor data and communicates only essential traffic information with neighboring intersections. This architecture enables millisecond-level decision making, minimizes communication delays, and ensures uninterrupted operation even if individual nodes or network links fail.</a:t>
            </a:r>
            <a:endParaRPr b="1" sz="1370"/>
          </a:p>
          <a:p>
            <a:pPr indent="0" lvl="0" marL="0" rtl="0" algn="l">
              <a:lnSpc>
                <a:spcPct val="115000"/>
              </a:lnSpc>
              <a:spcBef>
                <a:spcPts val="1200"/>
              </a:spcBef>
              <a:spcAft>
                <a:spcPts val="0"/>
              </a:spcAft>
              <a:buClr>
                <a:schemeClr val="dk1"/>
              </a:buClr>
              <a:buSzPts val="990"/>
              <a:buFont typeface="Arial"/>
              <a:buNone/>
            </a:pPr>
            <a:r>
              <a:rPr lang="en" sz="1190"/>
              <a:t>Unlike conventional adaptive traffic systems that simply push vehicles to the next intersection, TrafficFlow AI coordinates a network of intelligent signals to compute the </a:t>
            </a:r>
            <a:r>
              <a:rPr b="1" lang="en" sz="1190"/>
              <a:t>globally optimal traffic path</a:t>
            </a:r>
            <a:r>
              <a:rPr lang="en" sz="1190"/>
              <a:t>. Each intersection considers downstream road capacity, predicted traffic density, and neighboring signal states before making decisions. By anticipating congestion rather than merely reacting to it, the system prevents bottlenecks from forming, distributes traffic more efficiently across the network, and enables smoother travel, faster emergency response, and improved city-wide traffic flow.</a:t>
            </a:r>
            <a:endParaRPr sz="1190"/>
          </a:p>
          <a:p>
            <a:pPr indent="0" lvl="0" marL="0" rtl="0" algn="l">
              <a:lnSpc>
                <a:spcPct val="107916"/>
              </a:lnSpc>
              <a:spcBef>
                <a:spcPts val="1400"/>
              </a:spcBef>
              <a:spcAft>
                <a:spcPts val="0"/>
              </a:spcAft>
              <a:buClr>
                <a:schemeClr val="dk1"/>
              </a:buClr>
              <a:buSzPts val="990"/>
              <a:buFont typeface="Arial"/>
              <a:buNone/>
            </a:pPr>
            <a:r>
              <a:t/>
            </a:r>
            <a:endParaRPr sz="1460">
              <a:latin typeface="Times New Roman"/>
              <a:ea typeface="Times New Roman"/>
              <a:cs typeface="Times New Roman"/>
              <a:sym typeface="Times New Roman"/>
            </a:endParaRPr>
          </a:p>
          <a:p>
            <a:pPr indent="0" lvl="0" marL="457200" rtl="0" algn="l">
              <a:lnSpc>
                <a:spcPct val="107916"/>
              </a:lnSpc>
              <a:spcBef>
                <a:spcPts val="1200"/>
              </a:spcBef>
              <a:spcAft>
                <a:spcPts val="1200"/>
              </a:spcAft>
              <a:buSzPts val="4680"/>
              <a:buNone/>
            </a:pPr>
            <a:r>
              <a:t/>
            </a:r>
            <a:endParaRPr sz="1460"/>
          </a:p>
        </p:txBody>
      </p:sp>
      <p:pic>
        <p:nvPicPr>
          <p:cNvPr id="160" name="Google Shape;160;p21"/>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61" name="Google Shape;161;p21"/>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162" name="Google Shape;162;p21"/>
          <p:cNvPicPr preferRelativeResize="0"/>
          <p:nvPr/>
        </p:nvPicPr>
        <p:blipFill rotWithShape="1">
          <a:blip r:embed="rId5">
            <a:alphaModFix/>
          </a:blip>
          <a:srcRect b="0" l="0" r="0" t="0"/>
          <a:stretch/>
        </p:blipFill>
        <p:spPr>
          <a:xfrm rot="-5400000">
            <a:off x="4452250" y="436550"/>
            <a:ext cx="256675" cy="9157225"/>
          </a:xfrm>
          <a:prstGeom prst="rect">
            <a:avLst/>
          </a:prstGeom>
          <a:noFill/>
          <a:ln>
            <a:noFill/>
          </a:ln>
        </p:spPr>
      </p:pic>
      <p:sp>
        <p:nvSpPr>
          <p:cNvPr id="163" name="Google Shape;163;p21"/>
          <p:cNvSpPr txBox="1"/>
          <p:nvPr/>
        </p:nvSpPr>
        <p:spPr>
          <a:xfrm>
            <a:off x="71350" y="83250"/>
            <a:ext cx="4410000" cy="624300"/>
          </a:xfrm>
          <a:prstGeom prst="rect">
            <a:avLst/>
          </a:prstGeom>
          <a:noFill/>
          <a:ln>
            <a:noFill/>
          </a:ln>
        </p:spPr>
        <p:txBody>
          <a:bodyPr anchorCtr="0" anchor="t" bIns="91425" lIns="91425" spcFirstLastPara="1" rIns="91425" wrap="square" tIns="91425">
            <a:noAutofit/>
          </a:bodyPr>
          <a:lstStyle/>
          <a:p>
            <a:pPr indent="0" lvl="0" marL="0" marR="0" rtl="0" algn="l">
              <a:lnSpc>
                <a:spcPct val="107916"/>
              </a:lnSpc>
              <a:spcBef>
                <a:spcPts val="1400"/>
              </a:spcBef>
              <a:spcAft>
                <a:spcPts val="400"/>
              </a:spcAft>
              <a:buClr>
                <a:schemeClr val="dk1"/>
              </a:buClr>
              <a:buSzPts val="1100"/>
              <a:buFont typeface="Arial"/>
              <a:buNone/>
            </a:pPr>
            <a:r>
              <a:rPr b="1" i="0" lang="en" sz="2800" u="none" cap="none" strike="noStrike">
                <a:solidFill>
                  <a:schemeClr val="dk1"/>
                </a:solidFill>
                <a:latin typeface="Times New Roman"/>
                <a:ea typeface="Times New Roman"/>
                <a:cs typeface="Times New Roman"/>
                <a:sym typeface="Times New Roman"/>
              </a:rPr>
              <a:t>PROPOSED SOLUTION</a:t>
            </a:r>
            <a:endParaRPr b="0" i="0" sz="28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ph type="ctrTitle"/>
          </p:nvPr>
        </p:nvSpPr>
        <p:spPr>
          <a:xfrm>
            <a:off x="311700" y="1183050"/>
            <a:ext cx="3612600" cy="3534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SzPts val="1300"/>
              <a:buChar char="●"/>
            </a:pPr>
            <a:r>
              <a:rPr b="1" lang="en" sz="1300"/>
              <a:t>1. Sensing:</a:t>
            </a:r>
            <a:r>
              <a:rPr lang="en" sz="1300"/>
              <a:t> Radar, camera + AI </a:t>
            </a:r>
            <a:endParaRPr sz="1300"/>
          </a:p>
          <a:p>
            <a:pPr indent="-311150" lvl="0" marL="457200" rtl="0" algn="l">
              <a:lnSpc>
                <a:spcPct val="115000"/>
              </a:lnSpc>
              <a:spcBef>
                <a:spcPts val="0"/>
              </a:spcBef>
              <a:spcAft>
                <a:spcPts val="0"/>
              </a:spcAft>
              <a:buSzPts val="1300"/>
              <a:buChar char="●"/>
            </a:pPr>
            <a:r>
              <a:rPr b="1" lang="en" sz="1300"/>
              <a:t>2. Inference:</a:t>
            </a:r>
            <a:r>
              <a:rPr lang="en" sz="1300"/>
              <a:t> Compact models locally predict traffic state </a:t>
            </a:r>
            <a:r>
              <a:rPr lang="en" sz="1300"/>
              <a:t>on a 60s rolling horizon.</a:t>
            </a:r>
            <a:endParaRPr sz="1300"/>
          </a:p>
          <a:p>
            <a:pPr indent="-311150" lvl="0" marL="457200" rtl="0" algn="l">
              <a:lnSpc>
                <a:spcPct val="115000"/>
              </a:lnSpc>
              <a:spcBef>
                <a:spcPts val="0"/>
              </a:spcBef>
              <a:spcAft>
                <a:spcPts val="0"/>
              </a:spcAft>
              <a:buSzPts val="1300"/>
              <a:buChar char="●"/>
            </a:pPr>
            <a:r>
              <a:rPr b="1" lang="en" sz="1300"/>
              <a:t>3. Orchestration:</a:t>
            </a:r>
            <a:r>
              <a:rPr lang="en" sz="1300"/>
              <a:t> Adjacent nodes negotiate phase adjustments via peer mesh protocol.</a:t>
            </a:r>
            <a:endParaRPr sz="1300"/>
          </a:p>
          <a:p>
            <a:pPr indent="-311150" lvl="0" marL="457200" rtl="0" algn="l">
              <a:lnSpc>
                <a:spcPct val="115000"/>
              </a:lnSpc>
              <a:spcBef>
                <a:spcPts val="0"/>
              </a:spcBef>
              <a:spcAft>
                <a:spcPts val="0"/>
              </a:spcAft>
              <a:buSzPts val="1300"/>
              <a:buChar char="●"/>
            </a:pPr>
            <a:r>
              <a:rPr b="1" lang="en" sz="1300"/>
              <a:t>4. City Learning:</a:t>
            </a:r>
            <a:r>
              <a:rPr lang="en" sz="1300"/>
              <a:t> Periodic model updates and analytics distributed via the cloud.</a:t>
            </a:r>
            <a:endParaRPr sz="1300"/>
          </a:p>
          <a:p>
            <a:pPr indent="0" lvl="0" marL="457200" rtl="0" algn="l">
              <a:lnSpc>
                <a:spcPct val="107916"/>
              </a:lnSpc>
              <a:spcBef>
                <a:spcPts val="1200"/>
              </a:spcBef>
              <a:spcAft>
                <a:spcPts val="1200"/>
              </a:spcAft>
              <a:buSzPts val="4680"/>
              <a:buNone/>
            </a:pPr>
            <a:r>
              <a:t/>
            </a:r>
            <a:endParaRPr sz="1360"/>
          </a:p>
        </p:txBody>
      </p:sp>
      <p:pic>
        <p:nvPicPr>
          <p:cNvPr id="169" name="Google Shape;169;p22"/>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70" name="Google Shape;170;p22"/>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171" name="Google Shape;171;p22"/>
          <p:cNvPicPr preferRelativeResize="0"/>
          <p:nvPr/>
        </p:nvPicPr>
        <p:blipFill rotWithShape="1">
          <a:blip r:embed="rId5">
            <a:alphaModFix/>
          </a:blip>
          <a:srcRect b="0" l="0" r="0" t="0"/>
          <a:stretch/>
        </p:blipFill>
        <p:spPr>
          <a:xfrm rot="-5400000">
            <a:off x="4394100" y="436550"/>
            <a:ext cx="256675" cy="9157225"/>
          </a:xfrm>
          <a:prstGeom prst="rect">
            <a:avLst/>
          </a:prstGeom>
          <a:noFill/>
          <a:ln>
            <a:noFill/>
          </a:ln>
        </p:spPr>
      </p:pic>
      <p:sp>
        <p:nvSpPr>
          <p:cNvPr id="172" name="Google Shape;172;p22"/>
          <p:cNvSpPr txBox="1"/>
          <p:nvPr/>
        </p:nvSpPr>
        <p:spPr>
          <a:xfrm>
            <a:off x="71350" y="53525"/>
            <a:ext cx="5678700" cy="584700"/>
          </a:xfrm>
          <a:prstGeom prst="rect">
            <a:avLst/>
          </a:prstGeom>
          <a:noFill/>
          <a:ln>
            <a:noFill/>
          </a:ln>
        </p:spPr>
        <p:txBody>
          <a:bodyPr anchorCtr="0" anchor="t" bIns="91425" lIns="91425" spcFirstLastPara="1" rIns="91425" wrap="square" tIns="91425">
            <a:noAutofit/>
          </a:bodyPr>
          <a:lstStyle/>
          <a:p>
            <a:pPr indent="0" lvl="0" marL="0" marR="0" rtl="0" algn="ctr">
              <a:lnSpc>
                <a:spcPct val="107916"/>
              </a:lnSpc>
              <a:spcBef>
                <a:spcPts val="1400"/>
              </a:spcBef>
              <a:spcAft>
                <a:spcPts val="400"/>
              </a:spcAft>
              <a:buClr>
                <a:schemeClr val="dk1"/>
              </a:buClr>
              <a:buSzPts val="1100"/>
              <a:buFont typeface="Arial"/>
              <a:buNone/>
            </a:pPr>
            <a:r>
              <a:rPr b="1" i="0" lang="en" sz="2800" u="none" cap="none" strike="noStrike">
                <a:solidFill>
                  <a:schemeClr val="dk1"/>
                </a:solidFill>
                <a:latin typeface="Times New Roman"/>
                <a:ea typeface="Times New Roman"/>
                <a:cs typeface="Times New Roman"/>
                <a:sym typeface="Times New Roman"/>
              </a:rPr>
              <a:t>ARCHITECTURE / WORKFLOW</a:t>
            </a:r>
            <a:endParaRPr b="0" i="0" sz="1800" u="none" cap="none" strike="noStrike">
              <a:solidFill>
                <a:schemeClr val="dk2"/>
              </a:solidFill>
              <a:latin typeface="Arial"/>
              <a:ea typeface="Arial"/>
              <a:cs typeface="Arial"/>
              <a:sym typeface="Arial"/>
            </a:endParaRPr>
          </a:p>
        </p:txBody>
      </p:sp>
      <p:pic>
        <p:nvPicPr>
          <p:cNvPr id="173" name="Google Shape;173;p22"/>
          <p:cNvPicPr preferRelativeResize="0"/>
          <p:nvPr/>
        </p:nvPicPr>
        <p:blipFill>
          <a:blip r:embed="rId6">
            <a:alphaModFix/>
          </a:blip>
          <a:stretch>
            <a:fillRect/>
          </a:stretch>
        </p:blipFill>
        <p:spPr>
          <a:xfrm>
            <a:off x="4190875" y="1183050"/>
            <a:ext cx="4787251" cy="2890975"/>
          </a:xfrm>
          <a:prstGeom prst="rect">
            <a:avLst/>
          </a:prstGeom>
          <a:noFill/>
          <a:ln>
            <a:noFill/>
          </a:ln>
        </p:spPr>
      </p:pic>
      <p:sp>
        <p:nvSpPr>
          <p:cNvPr id="174" name="Google Shape;174;p22"/>
          <p:cNvSpPr txBox="1"/>
          <p:nvPr/>
        </p:nvSpPr>
        <p:spPr>
          <a:xfrm>
            <a:off x="4357225" y="3972700"/>
            <a:ext cx="3714900" cy="25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rPr>
              <a:t>Sample AI Generated Image</a:t>
            </a:r>
            <a:endParaRPr sz="10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ctrTitle"/>
          </p:nvPr>
        </p:nvSpPr>
        <p:spPr>
          <a:xfrm>
            <a:off x="311700" y="1210375"/>
            <a:ext cx="8520600" cy="3084300"/>
          </a:xfrm>
          <a:prstGeom prst="rect">
            <a:avLst/>
          </a:prstGeom>
          <a:noFill/>
          <a:ln>
            <a:noFill/>
          </a:ln>
        </p:spPr>
        <p:txBody>
          <a:bodyPr anchorCtr="0" anchor="t" bIns="91425" lIns="91425" spcFirstLastPara="1" rIns="91425" wrap="square" tIns="91425">
            <a:noAutofit/>
          </a:bodyPr>
          <a:lstStyle/>
          <a:p>
            <a:pPr indent="-316865" lvl="0" marL="457200" rtl="0" algn="l">
              <a:lnSpc>
                <a:spcPct val="115000"/>
              </a:lnSpc>
              <a:spcBef>
                <a:spcPts val="1200"/>
              </a:spcBef>
              <a:spcAft>
                <a:spcPts val="0"/>
              </a:spcAft>
              <a:buSzPts val="1390"/>
              <a:buChar char="●"/>
            </a:pPr>
            <a:r>
              <a:rPr b="1" lang="en" sz="1390"/>
              <a:t>Global Path Optimization:</a:t>
            </a:r>
            <a:r>
              <a:rPr lang="en" sz="1390"/>
              <a:t> Evaluates the grid as a holistic network, proactively adjusting downstream lights before a platoon of cars even arrives.</a:t>
            </a:r>
            <a:endParaRPr sz="1390"/>
          </a:p>
          <a:p>
            <a:pPr indent="-316865" lvl="0" marL="457200" rtl="0" algn="l">
              <a:lnSpc>
                <a:spcPct val="115000"/>
              </a:lnSpc>
              <a:spcBef>
                <a:spcPts val="0"/>
              </a:spcBef>
              <a:spcAft>
                <a:spcPts val="0"/>
              </a:spcAft>
              <a:buSzPts val="1390"/>
              <a:buChar char="●"/>
            </a:pPr>
            <a:r>
              <a:rPr b="1" lang="en" sz="1390"/>
              <a:t>Graceful Degradation:</a:t>
            </a:r>
            <a:r>
              <a:rPr lang="en" sz="1390"/>
              <a:t> No central dependency. If one intersection loses connectivity, the rest of the grid continues to optimize autonomously.</a:t>
            </a:r>
            <a:endParaRPr sz="1390"/>
          </a:p>
          <a:p>
            <a:pPr indent="-316865" lvl="0" marL="457200" rtl="0" algn="l">
              <a:lnSpc>
                <a:spcPct val="115000"/>
              </a:lnSpc>
              <a:spcBef>
                <a:spcPts val="0"/>
              </a:spcBef>
              <a:spcAft>
                <a:spcPts val="0"/>
              </a:spcAft>
              <a:buSzPts val="1390"/>
              <a:buChar char="●"/>
            </a:pPr>
            <a:r>
              <a:rPr b="1" lang="en" sz="1390"/>
              <a:t>Millisecond Decisions:</a:t>
            </a:r>
            <a:r>
              <a:rPr lang="en" sz="1390"/>
              <a:t> Edge hardware eliminates cloud round-trip latency, allowing phase changes to happen the exact instant conditions demand it.</a:t>
            </a:r>
            <a:endParaRPr sz="1390"/>
          </a:p>
          <a:p>
            <a:pPr indent="-316865" lvl="0" marL="457200" rtl="0" algn="l">
              <a:lnSpc>
                <a:spcPct val="115000"/>
              </a:lnSpc>
              <a:spcBef>
                <a:spcPts val="0"/>
              </a:spcBef>
              <a:spcAft>
                <a:spcPts val="0"/>
              </a:spcAft>
              <a:buSzPts val="1390"/>
              <a:buChar char="●"/>
            </a:pPr>
            <a:r>
              <a:rPr b="1" lang="en" sz="1390"/>
              <a:t>Emissions Mitigation:</a:t>
            </a:r>
            <a:r>
              <a:rPr lang="en" sz="1390"/>
              <a:t> By targeting "stops per kilometer" as a primary penalty in our reward function, we directly cut idling CO2 emissions.</a:t>
            </a:r>
            <a:endParaRPr sz="1390"/>
          </a:p>
          <a:p>
            <a:pPr indent="0" lvl="0" marL="0" rtl="0" algn="l">
              <a:lnSpc>
                <a:spcPct val="107916"/>
              </a:lnSpc>
              <a:spcBef>
                <a:spcPts val="1400"/>
              </a:spcBef>
              <a:spcAft>
                <a:spcPts val="0"/>
              </a:spcAft>
              <a:buClr>
                <a:schemeClr val="dk1"/>
              </a:buClr>
              <a:buSzPts val="990"/>
              <a:buFont typeface="Arial"/>
              <a:buNone/>
            </a:pPr>
            <a:r>
              <a:t/>
            </a:r>
            <a:endParaRPr sz="1460">
              <a:latin typeface="Times New Roman"/>
              <a:ea typeface="Times New Roman"/>
              <a:cs typeface="Times New Roman"/>
              <a:sym typeface="Times New Roman"/>
            </a:endParaRPr>
          </a:p>
        </p:txBody>
      </p:sp>
      <p:pic>
        <p:nvPicPr>
          <p:cNvPr id="180" name="Google Shape;180;p23"/>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81" name="Google Shape;181;p23"/>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182" name="Google Shape;182;p23"/>
          <p:cNvPicPr preferRelativeResize="0"/>
          <p:nvPr/>
        </p:nvPicPr>
        <p:blipFill rotWithShape="1">
          <a:blip r:embed="rId5">
            <a:alphaModFix/>
          </a:blip>
          <a:srcRect b="0" l="0" r="0" t="0"/>
          <a:stretch/>
        </p:blipFill>
        <p:spPr>
          <a:xfrm rot="-5400000">
            <a:off x="4452250" y="436550"/>
            <a:ext cx="256675" cy="9157225"/>
          </a:xfrm>
          <a:prstGeom prst="rect">
            <a:avLst/>
          </a:prstGeom>
          <a:noFill/>
          <a:ln>
            <a:noFill/>
          </a:ln>
        </p:spPr>
      </p:pic>
      <p:sp>
        <p:nvSpPr>
          <p:cNvPr id="183" name="Google Shape;183;p23"/>
          <p:cNvSpPr txBox="1"/>
          <p:nvPr/>
        </p:nvSpPr>
        <p:spPr>
          <a:xfrm>
            <a:off x="71350" y="53525"/>
            <a:ext cx="5678700" cy="584700"/>
          </a:xfrm>
          <a:prstGeom prst="rect">
            <a:avLst/>
          </a:prstGeom>
          <a:noFill/>
          <a:ln>
            <a:noFill/>
          </a:ln>
        </p:spPr>
        <p:txBody>
          <a:bodyPr anchorCtr="0" anchor="t" bIns="91425" lIns="91425" spcFirstLastPara="1" rIns="91425" wrap="square" tIns="91425">
            <a:noAutofit/>
          </a:bodyPr>
          <a:lstStyle/>
          <a:p>
            <a:pPr indent="0" lvl="0" marL="0" marR="0" rtl="0" algn="l">
              <a:lnSpc>
                <a:spcPct val="107916"/>
              </a:lnSpc>
              <a:spcBef>
                <a:spcPts val="1400"/>
              </a:spcBef>
              <a:spcAft>
                <a:spcPts val="400"/>
              </a:spcAft>
              <a:buClr>
                <a:schemeClr val="dk1"/>
              </a:buClr>
              <a:buSzPts val="1100"/>
              <a:buFont typeface="Arial"/>
              <a:buNone/>
            </a:pPr>
            <a:r>
              <a:rPr b="1" i="0" lang="en" sz="2800" u="none" cap="none" strike="noStrike">
                <a:solidFill>
                  <a:schemeClr val="dk1"/>
                </a:solidFill>
                <a:latin typeface="Times New Roman"/>
                <a:ea typeface="Times New Roman"/>
                <a:cs typeface="Times New Roman"/>
                <a:sym typeface="Times New Roman"/>
              </a:rPr>
              <a:t>UNIQUENESS / INNOVATION</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ctrTitle"/>
          </p:nvPr>
        </p:nvSpPr>
        <p:spPr>
          <a:xfrm>
            <a:off x="311700" y="1210375"/>
            <a:ext cx="8520600" cy="3230400"/>
          </a:xfrm>
          <a:prstGeom prst="rect">
            <a:avLst/>
          </a:prstGeom>
          <a:noFill/>
          <a:ln>
            <a:noFill/>
          </a:ln>
        </p:spPr>
        <p:txBody>
          <a:bodyPr anchorCtr="0" anchor="t" bIns="91425" lIns="91425" spcFirstLastPara="1" rIns="91425" wrap="square" tIns="91425">
            <a:noAutofit/>
          </a:bodyPr>
          <a:lstStyle/>
          <a:p>
            <a:pPr indent="0" lvl="0" marL="0" rtl="0" algn="l">
              <a:lnSpc>
                <a:spcPct val="107916"/>
              </a:lnSpc>
              <a:spcBef>
                <a:spcPts val="1400"/>
              </a:spcBef>
              <a:spcAft>
                <a:spcPts val="0"/>
              </a:spcAft>
              <a:buClr>
                <a:schemeClr val="dk1"/>
              </a:buClr>
              <a:buSzPts val="990"/>
              <a:buFont typeface="Arial"/>
              <a:buNone/>
            </a:pPr>
            <a:r>
              <a:t/>
            </a:r>
            <a:endParaRPr sz="146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990"/>
              <a:buFont typeface="Arial"/>
              <a:buNone/>
            </a:pPr>
            <a:r>
              <a:rPr b="1" lang="en" sz="1190"/>
              <a:t>Advantages (Target Pilot Metrics):</a:t>
            </a:r>
            <a:endParaRPr b="1" sz="1190"/>
          </a:p>
          <a:p>
            <a:pPr indent="-304165" lvl="0" marL="457200" rtl="0" algn="l">
              <a:lnSpc>
                <a:spcPct val="115000"/>
              </a:lnSpc>
              <a:spcBef>
                <a:spcPts val="1200"/>
              </a:spcBef>
              <a:spcAft>
                <a:spcPts val="0"/>
              </a:spcAft>
              <a:buSzPts val="1190"/>
              <a:buChar char="●"/>
            </a:pPr>
            <a:r>
              <a:rPr b="1" lang="en" sz="1190"/>
              <a:t>15% Delay Reduction:</a:t>
            </a:r>
            <a:r>
              <a:rPr lang="en" sz="1190"/>
              <a:t> Target drop from 45s to ~38s per vehicle.</a:t>
            </a:r>
            <a:endParaRPr sz="1190"/>
          </a:p>
          <a:p>
            <a:pPr indent="-304165" lvl="0" marL="457200" rtl="0" algn="l">
              <a:lnSpc>
                <a:spcPct val="115000"/>
              </a:lnSpc>
              <a:spcBef>
                <a:spcPts val="0"/>
              </a:spcBef>
              <a:spcAft>
                <a:spcPts val="0"/>
              </a:spcAft>
              <a:buSzPts val="1190"/>
              <a:buChar char="●"/>
            </a:pPr>
            <a:r>
              <a:rPr b="1" lang="en" sz="1190"/>
              <a:t>20% Stop Reduction:</a:t>
            </a:r>
            <a:r>
              <a:rPr lang="en" sz="1190"/>
              <a:t> Smoother flow reduces total stops per kilometer.</a:t>
            </a:r>
            <a:endParaRPr sz="1190"/>
          </a:p>
          <a:p>
            <a:pPr indent="-304165" lvl="0" marL="457200" rtl="0" algn="l">
              <a:lnSpc>
                <a:spcPct val="115000"/>
              </a:lnSpc>
              <a:spcBef>
                <a:spcPts val="0"/>
              </a:spcBef>
              <a:spcAft>
                <a:spcPts val="0"/>
              </a:spcAft>
              <a:buSzPts val="1190"/>
              <a:buChar char="●"/>
            </a:pPr>
            <a:r>
              <a:rPr b="1" lang="en" sz="1190"/>
              <a:t>~8% Emissions Cut:</a:t>
            </a:r>
            <a:r>
              <a:rPr lang="en" sz="1190"/>
              <a:t> Measurable CO2 reduction; ROI in 6-9 months.</a:t>
            </a:r>
            <a:endParaRPr sz="1190"/>
          </a:p>
          <a:p>
            <a:pPr indent="0" lvl="0" marL="0" rtl="0" algn="l">
              <a:lnSpc>
                <a:spcPct val="115000"/>
              </a:lnSpc>
              <a:spcBef>
                <a:spcPts val="1200"/>
              </a:spcBef>
              <a:spcAft>
                <a:spcPts val="0"/>
              </a:spcAft>
              <a:buClr>
                <a:schemeClr val="dk1"/>
              </a:buClr>
              <a:buSzPts val="990"/>
              <a:buFont typeface="Arial"/>
              <a:buNone/>
            </a:pPr>
            <a:r>
              <a:rPr b="1" lang="en" sz="1190"/>
              <a:t>Current Limitations:</a:t>
            </a:r>
            <a:endParaRPr b="1" sz="1190"/>
          </a:p>
          <a:p>
            <a:pPr indent="-304165" lvl="0" marL="457200" rtl="0" algn="l">
              <a:lnSpc>
                <a:spcPct val="115000"/>
              </a:lnSpc>
              <a:spcBef>
                <a:spcPts val="1200"/>
              </a:spcBef>
              <a:spcAft>
                <a:spcPts val="0"/>
              </a:spcAft>
              <a:buSzPts val="1190"/>
              <a:buChar char="●"/>
            </a:pPr>
            <a:r>
              <a:rPr b="1" lang="en" sz="1190"/>
              <a:t>Hardware Overhead:</a:t>
            </a:r>
            <a:r>
              <a:rPr lang="en" sz="1190"/>
              <a:t> Requires installation of edge nodes at each junction.</a:t>
            </a:r>
            <a:endParaRPr sz="1190"/>
          </a:p>
          <a:p>
            <a:pPr indent="-304165" lvl="0" marL="457200" rtl="0" algn="l">
              <a:lnSpc>
                <a:spcPct val="115000"/>
              </a:lnSpc>
              <a:spcBef>
                <a:spcPts val="0"/>
              </a:spcBef>
              <a:spcAft>
                <a:spcPts val="0"/>
              </a:spcAft>
              <a:buSzPts val="1190"/>
              <a:buChar char="●"/>
            </a:pPr>
            <a:r>
              <a:rPr b="1" lang="en" sz="1190"/>
              <a:t>Sensor Dependency:</a:t>
            </a:r>
            <a:r>
              <a:rPr lang="en" sz="1190"/>
              <a:t> Algorithm efficacy drops if existing sensors fail.</a:t>
            </a:r>
            <a:endParaRPr sz="1190"/>
          </a:p>
          <a:p>
            <a:pPr indent="-304165" lvl="0" marL="457200" rtl="0" algn="l">
              <a:lnSpc>
                <a:spcPct val="115000"/>
              </a:lnSpc>
              <a:spcBef>
                <a:spcPts val="0"/>
              </a:spcBef>
              <a:spcAft>
                <a:spcPts val="0"/>
              </a:spcAft>
              <a:buSzPts val="1190"/>
              <a:buChar char="●"/>
            </a:pPr>
            <a:r>
              <a:rPr b="1" lang="en" sz="1190"/>
              <a:t>Initial Calibration Phase:</a:t>
            </a:r>
            <a:r>
              <a:rPr lang="en" sz="1190"/>
              <a:t> Models require 48-72h to map local behaviors.</a:t>
            </a:r>
            <a:endParaRPr sz="1190"/>
          </a:p>
          <a:p>
            <a:pPr indent="0" lvl="0" marL="457200" rtl="0" algn="l">
              <a:lnSpc>
                <a:spcPct val="107916"/>
              </a:lnSpc>
              <a:spcBef>
                <a:spcPts val="1200"/>
              </a:spcBef>
              <a:spcAft>
                <a:spcPts val="1200"/>
              </a:spcAft>
              <a:buSzPts val="4680"/>
              <a:buNone/>
            </a:pPr>
            <a:r>
              <a:t/>
            </a:r>
            <a:endParaRPr sz="1460"/>
          </a:p>
        </p:txBody>
      </p:sp>
      <p:pic>
        <p:nvPicPr>
          <p:cNvPr id="189" name="Google Shape;189;p24"/>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90" name="Google Shape;190;p24"/>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191" name="Google Shape;191;p24"/>
          <p:cNvPicPr preferRelativeResize="0"/>
          <p:nvPr/>
        </p:nvPicPr>
        <p:blipFill rotWithShape="1">
          <a:blip r:embed="rId5">
            <a:alphaModFix/>
          </a:blip>
          <a:srcRect b="0" l="0" r="0" t="0"/>
          <a:stretch/>
        </p:blipFill>
        <p:spPr>
          <a:xfrm rot="-5400000">
            <a:off x="4452250" y="436550"/>
            <a:ext cx="256675" cy="9157225"/>
          </a:xfrm>
          <a:prstGeom prst="rect">
            <a:avLst/>
          </a:prstGeom>
          <a:noFill/>
          <a:ln>
            <a:noFill/>
          </a:ln>
        </p:spPr>
      </p:pic>
      <p:sp>
        <p:nvSpPr>
          <p:cNvPr id="192" name="Google Shape;192;p24"/>
          <p:cNvSpPr txBox="1"/>
          <p:nvPr/>
        </p:nvSpPr>
        <p:spPr>
          <a:xfrm>
            <a:off x="71350" y="53525"/>
            <a:ext cx="5678700" cy="584700"/>
          </a:xfrm>
          <a:prstGeom prst="rect">
            <a:avLst/>
          </a:prstGeom>
          <a:noFill/>
          <a:ln>
            <a:noFill/>
          </a:ln>
        </p:spPr>
        <p:txBody>
          <a:bodyPr anchorCtr="0" anchor="t" bIns="91425" lIns="91425" spcFirstLastPara="1" rIns="91425" wrap="square" tIns="91425">
            <a:noAutofit/>
          </a:bodyPr>
          <a:lstStyle/>
          <a:p>
            <a:pPr indent="0" lvl="0" marL="0" marR="0" rtl="0" algn="ctr">
              <a:lnSpc>
                <a:spcPct val="107916"/>
              </a:lnSpc>
              <a:spcBef>
                <a:spcPts val="1400"/>
              </a:spcBef>
              <a:spcAft>
                <a:spcPts val="400"/>
              </a:spcAft>
              <a:buClr>
                <a:schemeClr val="dk1"/>
              </a:buClr>
              <a:buSzPts val="1100"/>
              <a:buFont typeface="Arial"/>
              <a:buNone/>
            </a:pPr>
            <a:r>
              <a:rPr b="1" i="0" lang="en" sz="2800" u="none" cap="none" strike="noStrike">
                <a:solidFill>
                  <a:schemeClr val="dk1"/>
                </a:solidFill>
                <a:latin typeface="Times New Roman"/>
                <a:ea typeface="Times New Roman"/>
                <a:cs typeface="Times New Roman"/>
                <a:sym typeface="Times New Roman"/>
              </a:rPr>
              <a:t>ADVANTAGES &amp; LIMITATIONS</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ctrTitle"/>
          </p:nvPr>
        </p:nvSpPr>
        <p:spPr>
          <a:xfrm>
            <a:off x="311695" y="1210375"/>
            <a:ext cx="8236200" cy="58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t>"Local optimization compounds into city-wide improvements."</a:t>
            </a:r>
            <a:endParaRPr b="1" sz="1100"/>
          </a:p>
          <a:p>
            <a:pPr indent="0" lvl="0" marL="0" rtl="0" algn="l">
              <a:lnSpc>
                <a:spcPct val="115000"/>
              </a:lnSpc>
              <a:spcBef>
                <a:spcPts val="1200"/>
              </a:spcBef>
              <a:spcAft>
                <a:spcPts val="0"/>
              </a:spcAft>
              <a:buClr>
                <a:schemeClr val="dk1"/>
              </a:buClr>
              <a:buSzPts val="1100"/>
              <a:buFont typeface="Arial"/>
              <a:buNone/>
            </a:pPr>
            <a:r>
              <a:rPr lang="en" sz="1100"/>
              <a:t>TrafficFlow AI demonstrates how decentralized intelligence can transform urban mobility. By replacing centralized bottlenecks with edge-native AI and collaborative intersection-to-intersection coordination, the system delivers faster decision making, greater resilience, and proactive traffic optimization at city scale. Each intersection independently optimizes local traffic while contributing to a coordinated network that improves overall traffic flow, reduces congestion, lowers emissions, and enhances emergency response efficiency.</a:t>
            </a:r>
            <a:endParaRPr sz="1100"/>
          </a:p>
          <a:p>
            <a:pPr indent="0" lvl="0" marL="0" rtl="0" algn="l">
              <a:lnSpc>
                <a:spcPct val="115000"/>
              </a:lnSpc>
              <a:spcBef>
                <a:spcPts val="1200"/>
              </a:spcBef>
              <a:spcAft>
                <a:spcPts val="0"/>
              </a:spcAft>
              <a:buClr>
                <a:schemeClr val="dk1"/>
              </a:buClr>
              <a:buSzPts val="1100"/>
              <a:buFont typeface="Arial"/>
              <a:buNone/>
            </a:pPr>
            <a:r>
              <a:rPr lang="en" sz="1100"/>
              <a:t>The architecture is inherently scalable, allowing deployment to begin with a single intersection or corridor and expand seamlessly to an entire metropolitan road network without fundamental infrastructure changes. This provides municipalities with a practical and cost-effective path toward building smarter, more resilient cities.</a:t>
            </a:r>
            <a:endParaRPr sz="1100"/>
          </a:p>
          <a:p>
            <a:pPr indent="0" lvl="0" marL="0" rtl="0" algn="l">
              <a:lnSpc>
                <a:spcPct val="115000"/>
              </a:lnSpc>
              <a:spcBef>
                <a:spcPts val="1400"/>
              </a:spcBef>
              <a:spcAft>
                <a:spcPts val="0"/>
              </a:spcAft>
              <a:buClr>
                <a:schemeClr val="dk1"/>
              </a:buClr>
              <a:buSzPts val="1100"/>
              <a:buFont typeface="Arial"/>
              <a:buNone/>
            </a:pPr>
            <a:r>
              <a:rPr b="1" lang="en" sz="1300"/>
              <a:t>Call to Action</a:t>
            </a:r>
            <a:endParaRPr b="1" sz="1300"/>
          </a:p>
          <a:p>
            <a:pPr indent="0" lvl="0" marL="0" rtl="0" algn="l">
              <a:lnSpc>
                <a:spcPct val="115000"/>
              </a:lnSpc>
              <a:spcBef>
                <a:spcPts val="1200"/>
              </a:spcBef>
              <a:spcAft>
                <a:spcPts val="0"/>
              </a:spcAft>
              <a:buClr>
                <a:schemeClr val="dk1"/>
              </a:buClr>
              <a:buSzPts val="1100"/>
              <a:buFont typeface="Arial"/>
              <a:buNone/>
            </a:pPr>
            <a:r>
              <a:rPr b="1" lang="en" sz="1100"/>
              <a:t>Ready for a 48-Hour Pilot Deployment</a:t>
            </a:r>
            <a:endParaRPr b="1" sz="1100"/>
          </a:p>
          <a:p>
            <a:pPr indent="0" lvl="0" marL="0" rtl="0" algn="l">
              <a:lnSpc>
                <a:spcPct val="115000"/>
              </a:lnSpc>
              <a:spcBef>
                <a:spcPts val="1200"/>
              </a:spcBef>
              <a:spcAft>
                <a:spcPts val="1200"/>
              </a:spcAft>
              <a:buClr>
                <a:schemeClr val="dk1"/>
              </a:buClr>
              <a:buSzPts val="1100"/>
              <a:buFont typeface="Arial"/>
              <a:buNone/>
            </a:pPr>
            <a:r>
              <a:rPr lang="en" sz="1100"/>
              <a:t>Deploy TrafficFlow AI at a selected traffic corridor and demonstrate measurable improvements in traffic flow, travel time, fuel efficiency, and emissions within just </a:t>
            </a:r>
            <a:r>
              <a:rPr b="1" lang="en" sz="1100"/>
              <a:t>48 hours</a:t>
            </a:r>
            <a:r>
              <a:rPr lang="en" sz="1100"/>
              <a:t>, providing a clear roadmap for city-wide adopt.</a:t>
            </a:r>
            <a:endParaRPr i="1" sz="1190"/>
          </a:p>
        </p:txBody>
      </p:sp>
      <p:pic>
        <p:nvPicPr>
          <p:cNvPr id="198" name="Google Shape;198;p25"/>
          <p:cNvPicPr preferRelativeResize="0"/>
          <p:nvPr/>
        </p:nvPicPr>
        <p:blipFill rotWithShape="1">
          <a:blip r:embed="rId3">
            <a:alphaModFix/>
          </a:blip>
          <a:srcRect b="0" l="0" r="0" t="0"/>
          <a:stretch/>
        </p:blipFill>
        <p:spPr>
          <a:xfrm>
            <a:off x="0" y="4717650"/>
            <a:ext cx="9144001" cy="211800"/>
          </a:xfrm>
          <a:prstGeom prst="rect">
            <a:avLst/>
          </a:prstGeom>
          <a:noFill/>
          <a:ln>
            <a:noFill/>
          </a:ln>
        </p:spPr>
      </p:pic>
      <p:pic>
        <p:nvPicPr>
          <p:cNvPr id="199" name="Google Shape;199;p25"/>
          <p:cNvPicPr preferRelativeResize="0"/>
          <p:nvPr/>
        </p:nvPicPr>
        <p:blipFill rotWithShape="1">
          <a:blip r:embed="rId4">
            <a:alphaModFix/>
          </a:blip>
          <a:srcRect b="0" l="0" r="0" t="0"/>
          <a:stretch/>
        </p:blipFill>
        <p:spPr>
          <a:xfrm rot="-5400000">
            <a:off x="4412462" y="-3661887"/>
            <a:ext cx="319075" cy="9058100"/>
          </a:xfrm>
          <a:prstGeom prst="rect">
            <a:avLst/>
          </a:prstGeom>
          <a:noFill/>
          <a:ln>
            <a:noFill/>
          </a:ln>
        </p:spPr>
      </p:pic>
      <p:pic>
        <p:nvPicPr>
          <p:cNvPr id="200" name="Google Shape;200;p25"/>
          <p:cNvPicPr preferRelativeResize="0"/>
          <p:nvPr/>
        </p:nvPicPr>
        <p:blipFill rotWithShape="1">
          <a:blip r:embed="rId5">
            <a:alphaModFix/>
          </a:blip>
          <a:srcRect b="0" l="0" r="0" t="0"/>
          <a:stretch/>
        </p:blipFill>
        <p:spPr>
          <a:xfrm rot="-5400000">
            <a:off x="4452250" y="436550"/>
            <a:ext cx="256675" cy="9157225"/>
          </a:xfrm>
          <a:prstGeom prst="rect">
            <a:avLst/>
          </a:prstGeom>
          <a:noFill/>
          <a:ln>
            <a:noFill/>
          </a:ln>
        </p:spPr>
      </p:pic>
      <p:sp>
        <p:nvSpPr>
          <p:cNvPr id="201" name="Google Shape;201;p25"/>
          <p:cNvSpPr txBox="1"/>
          <p:nvPr/>
        </p:nvSpPr>
        <p:spPr>
          <a:xfrm>
            <a:off x="71350" y="53525"/>
            <a:ext cx="5678700" cy="58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202" name="Google Shape;202;p25"/>
          <p:cNvSpPr txBox="1"/>
          <p:nvPr/>
        </p:nvSpPr>
        <p:spPr>
          <a:xfrm>
            <a:off x="152400" y="152400"/>
            <a:ext cx="3000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7916"/>
              </a:lnSpc>
              <a:spcBef>
                <a:spcPts val="1400"/>
              </a:spcBef>
              <a:spcAft>
                <a:spcPts val="400"/>
              </a:spcAft>
              <a:buClr>
                <a:srgbClr val="000000"/>
              </a:buClr>
              <a:buSzPts val="3000"/>
              <a:buFont typeface="Arial"/>
              <a:buNone/>
            </a:pPr>
            <a:r>
              <a:rPr b="1" i="0" lang="en" sz="3000" u="none" cap="none" strike="noStrike">
                <a:solidFill>
                  <a:schemeClr val="dk1"/>
                </a:solidFill>
                <a:latin typeface="Times New Roman"/>
                <a:ea typeface="Times New Roman"/>
                <a:cs typeface="Times New Roman"/>
                <a:sym typeface="Times New Roman"/>
              </a:rPr>
              <a:t>CONCLUSION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ctrTitle"/>
          </p:nvPr>
        </p:nvSpPr>
        <p:spPr>
          <a:xfrm>
            <a:off x="202750" y="992100"/>
            <a:ext cx="8494500" cy="3159300"/>
          </a:xfrm>
          <a:prstGeom prst="rect">
            <a:avLst/>
          </a:prstGeom>
          <a:noFill/>
          <a:ln>
            <a:noFill/>
          </a:ln>
        </p:spPr>
        <p:txBody>
          <a:bodyPr anchorCtr="0" anchor="b" bIns="91425" lIns="91425" spcFirstLastPara="1" rIns="91425" wrap="square" tIns="91425">
            <a:normAutofit/>
          </a:bodyPr>
          <a:lstStyle/>
          <a:p>
            <a:pPr indent="-298450" lvl="0" marL="457200" rtl="0" algn="l">
              <a:lnSpc>
                <a:spcPct val="115000"/>
              </a:lnSpc>
              <a:spcBef>
                <a:spcPts val="1200"/>
              </a:spcBef>
              <a:spcAft>
                <a:spcPts val="0"/>
              </a:spcAft>
              <a:buSzPts val="1100"/>
              <a:buChar char="●"/>
            </a:pPr>
            <a:r>
              <a:rPr lang="en" sz="1400"/>
              <a:t>Zhou, P., etc. (2020).</a:t>
            </a:r>
            <a:r>
              <a:rPr lang="en" sz="1400">
                <a:uFill>
                  <a:noFill/>
                </a:uFill>
                <a:hlinkClick r:id="rId3"/>
              </a:rPr>
              <a:t> </a:t>
            </a:r>
            <a:r>
              <a:rPr lang="en" sz="1350" u="sng">
                <a:solidFill>
                  <a:schemeClr val="hlink"/>
                </a:solidFill>
                <a:hlinkClick r:id="rId4"/>
              </a:rPr>
              <a:t>Multi-Agent Deep Reinforcement Learning for Large-Scale Traffic Signal Control</a:t>
            </a:r>
            <a:r>
              <a:rPr lang="en" sz="1400"/>
              <a:t>. </a:t>
            </a:r>
            <a:r>
              <a:rPr i="1" lang="en" sz="1350"/>
              <a:t>IEEE Transactions on Intelligent Transportation Systems</a:t>
            </a:r>
            <a:r>
              <a:rPr lang="en" sz="1400"/>
              <a:t>, 21(8). </a:t>
            </a:r>
            <a:endParaRPr sz="18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 sz="1400"/>
              <a:t>IEEE Standards Association. (2024). </a:t>
            </a:r>
            <a:r>
              <a:rPr i="1" lang="en" sz="1350"/>
              <a:t>IEEE P3342: Standard for Base Framework of Edge AI Model Deployment and Management</a:t>
            </a:r>
            <a:r>
              <a:rPr lang="en" sz="1400"/>
              <a:t>.</a:t>
            </a:r>
            <a:r>
              <a:rPr lang="en" sz="1400">
                <a:uFill>
                  <a:noFill/>
                </a:uFill>
                <a:hlinkClick r:id="rId5"/>
              </a:rPr>
              <a:t> </a:t>
            </a:r>
            <a:r>
              <a:rPr lang="en" sz="1350" u="sng">
                <a:solidFill>
                  <a:schemeClr val="hlink"/>
                </a:solidFill>
                <a:hlinkClick r:id="rId6"/>
              </a:rPr>
              <a:t>IEEE Xplore Standards</a:t>
            </a:r>
            <a:r>
              <a:rPr lang="en" sz="1400"/>
              <a:t>. </a:t>
            </a:r>
            <a:endParaRPr sz="18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 sz="1400"/>
              <a:t>Federal Highway Administration (FHWA). (2022).</a:t>
            </a:r>
            <a:r>
              <a:rPr lang="en" sz="1400">
                <a:uFill>
                  <a:noFill/>
                </a:uFill>
                <a:hlinkClick r:id="rId7"/>
              </a:rPr>
              <a:t> </a:t>
            </a:r>
            <a:r>
              <a:rPr i="1" lang="en" sz="1350" u="sng">
                <a:solidFill>
                  <a:schemeClr val="hlink"/>
                </a:solidFill>
                <a:hlinkClick r:id="rId8"/>
              </a:rPr>
              <a:t>2021 Urban Congestion Trends Report</a:t>
            </a:r>
            <a:r>
              <a:rPr lang="en" sz="1400"/>
              <a:t>. U.S. Department of Transportation. </a:t>
            </a:r>
            <a:endParaRPr sz="18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lang="en" sz="1400"/>
              <a:t>Use an open-source industry standard benchmark instead:</a:t>
            </a:r>
            <a:endParaRPr sz="1400"/>
          </a:p>
          <a:p>
            <a:pPr indent="-298450" lvl="0" marL="457200" rtl="0" algn="l">
              <a:lnSpc>
                <a:spcPct val="115000"/>
              </a:lnSpc>
              <a:spcBef>
                <a:spcPts val="0"/>
              </a:spcBef>
              <a:spcAft>
                <a:spcPts val="0"/>
              </a:spcAft>
              <a:buSzPts val="1100"/>
              <a:buChar char="●"/>
            </a:pPr>
            <a:r>
              <a:rPr lang="en" sz="1400"/>
              <a:t>Eclipse Foundation. (2025).</a:t>
            </a:r>
            <a:r>
              <a:rPr lang="en" sz="1400">
                <a:uFill>
                  <a:noFill/>
                </a:uFill>
                <a:hlinkClick r:id="rId9"/>
              </a:rPr>
              <a:t> </a:t>
            </a:r>
            <a:r>
              <a:rPr i="1" lang="en" sz="1350" u="sng">
                <a:solidFill>
                  <a:schemeClr val="hlink"/>
                </a:solidFill>
                <a:hlinkClick r:id="rId10"/>
              </a:rPr>
              <a:t>Simulation of Urban MObility (SUMO)</a:t>
            </a:r>
            <a:r>
              <a:rPr lang="en" sz="1400"/>
              <a:t> Traffic Optimization Framework. </a:t>
            </a:r>
            <a:endParaRPr sz="1800">
              <a:latin typeface="Times New Roman"/>
              <a:ea typeface="Times New Roman"/>
              <a:cs typeface="Times New Roman"/>
              <a:sym typeface="Times New Roman"/>
            </a:endParaRPr>
          </a:p>
          <a:p>
            <a:pPr indent="0" lvl="0" marL="0" rtl="0" algn="l">
              <a:lnSpc>
                <a:spcPct val="107916"/>
              </a:lnSpc>
              <a:spcBef>
                <a:spcPts val="1400"/>
              </a:spcBef>
              <a:spcAft>
                <a:spcPts val="400"/>
              </a:spcAft>
              <a:buClr>
                <a:schemeClr val="dk1"/>
              </a:buClr>
              <a:buSzPts val="1100"/>
              <a:buFont typeface="Arial"/>
              <a:buNone/>
            </a:pPr>
            <a:r>
              <a:t/>
            </a:r>
            <a:endParaRPr sz="1800">
              <a:latin typeface="Times New Roman"/>
              <a:ea typeface="Times New Roman"/>
              <a:cs typeface="Times New Roman"/>
              <a:sym typeface="Times New Roman"/>
            </a:endParaRPr>
          </a:p>
        </p:txBody>
      </p:sp>
      <p:pic>
        <p:nvPicPr>
          <p:cNvPr id="208" name="Google Shape;208;p26"/>
          <p:cNvPicPr preferRelativeResize="0"/>
          <p:nvPr/>
        </p:nvPicPr>
        <p:blipFill rotWithShape="1">
          <a:blip r:embed="rId11">
            <a:alphaModFix/>
          </a:blip>
          <a:srcRect b="0" l="0" r="0" t="0"/>
          <a:stretch/>
        </p:blipFill>
        <p:spPr>
          <a:xfrm>
            <a:off x="0" y="4717650"/>
            <a:ext cx="9144001" cy="211800"/>
          </a:xfrm>
          <a:prstGeom prst="rect">
            <a:avLst/>
          </a:prstGeom>
          <a:noFill/>
          <a:ln>
            <a:noFill/>
          </a:ln>
        </p:spPr>
      </p:pic>
      <p:pic>
        <p:nvPicPr>
          <p:cNvPr id="209" name="Google Shape;209;p26"/>
          <p:cNvPicPr preferRelativeResize="0"/>
          <p:nvPr/>
        </p:nvPicPr>
        <p:blipFill rotWithShape="1">
          <a:blip r:embed="rId12">
            <a:alphaModFix/>
          </a:blip>
          <a:srcRect b="0" l="0" r="0" t="0"/>
          <a:stretch/>
        </p:blipFill>
        <p:spPr>
          <a:xfrm rot="-5400000">
            <a:off x="4447300" y="431600"/>
            <a:ext cx="256675" cy="9167125"/>
          </a:xfrm>
          <a:prstGeom prst="rect">
            <a:avLst/>
          </a:prstGeom>
          <a:noFill/>
          <a:ln>
            <a:noFill/>
          </a:ln>
        </p:spPr>
      </p:pic>
      <p:pic>
        <p:nvPicPr>
          <p:cNvPr id="210" name="Google Shape;210;p26"/>
          <p:cNvPicPr preferRelativeResize="0"/>
          <p:nvPr/>
        </p:nvPicPr>
        <p:blipFill rotWithShape="1">
          <a:blip r:embed="rId13">
            <a:alphaModFix/>
          </a:blip>
          <a:srcRect b="0" l="0" r="0" t="0"/>
          <a:stretch/>
        </p:blipFill>
        <p:spPr>
          <a:xfrm rot="-5400000">
            <a:off x="4412462" y="-3661887"/>
            <a:ext cx="319075" cy="9058100"/>
          </a:xfrm>
          <a:prstGeom prst="rect">
            <a:avLst/>
          </a:prstGeom>
          <a:noFill/>
          <a:ln>
            <a:noFill/>
          </a:ln>
        </p:spPr>
      </p:pic>
      <p:sp>
        <p:nvSpPr>
          <p:cNvPr id="211" name="Google Shape;211;p26"/>
          <p:cNvSpPr txBox="1"/>
          <p:nvPr>
            <p:ph type="ctrTitle"/>
          </p:nvPr>
        </p:nvSpPr>
        <p:spPr>
          <a:xfrm>
            <a:off x="42950" y="0"/>
            <a:ext cx="2942100" cy="717900"/>
          </a:xfrm>
          <a:prstGeom prst="rect">
            <a:avLst/>
          </a:prstGeom>
          <a:noFill/>
          <a:ln>
            <a:noFill/>
          </a:ln>
        </p:spPr>
        <p:txBody>
          <a:bodyPr anchorCtr="0" anchor="b" bIns="91425" lIns="91425" spcFirstLastPara="1" rIns="91425" wrap="square" tIns="91425">
            <a:normAutofit/>
          </a:bodyPr>
          <a:lstStyle/>
          <a:p>
            <a:pPr indent="0" lvl="0" marL="0" rtl="0" algn="l">
              <a:lnSpc>
                <a:spcPct val="107916"/>
              </a:lnSpc>
              <a:spcBef>
                <a:spcPts val="1400"/>
              </a:spcBef>
              <a:spcAft>
                <a:spcPts val="400"/>
              </a:spcAft>
              <a:buClr>
                <a:schemeClr val="dk1"/>
              </a:buClr>
              <a:buSzPts val="1100"/>
              <a:buFont typeface="Arial"/>
              <a:buNone/>
            </a:pPr>
            <a:r>
              <a:rPr b="1" lang="en" sz="3000">
                <a:latin typeface="Times New Roman"/>
                <a:ea typeface="Times New Roman"/>
                <a:cs typeface="Times New Roman"/>
                <a:sym typeface="Times New Roman"/>
              </a:rPr>
              <a:t>REFERENCES</a:t>
            </a:r>
            <a:endParaRPr sz="3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